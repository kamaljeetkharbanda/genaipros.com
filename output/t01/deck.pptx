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02920" y="1097280"/>
            <a:ext cx="11185855" cy="320040"/>
          </a:xfrm>
          <a:prstGeom prst="rect">
            <a:avLst/>
          </a:prstGeom>
          <a:noFill/>
          <a:ln/>
        </p:spPr>
        <p:txBody>
          <a:bodyPr wrap="square" rtlCol="0" anchor="ctr"/>
          <a:lstStyle/>
          <a:p>
            <a:pPr indent="0" marL="0">
              <a:buNone/>
            </a:pPr>
            <a:r>
              <a:rPr lang="en-US" sz="1400" b="1" spc="600" kern="0" dirty="0">
                <a:solidFill>
                  <a:srgbClr val="0EA5E9"/>
                </a:solidFill>
                <a:latin typeface="Calibri" pitchFamily="34" charset="0"/>
                <a:ea typeface="Calibri" pitchFamily="34" charset="-122"/>
                <a:cs typeface="Calibri" pitchFamily="34" charset="-120"/>
              </a:rPr>
              <a:t>BUILDING GENAIPROS · TOPIC 01</a:t>
            </a:r>
            <a:endParaRPr lang="en-US" sz="1400" dirty="0"/>
          </a:p>
        </p:txBody>
      </p:sp>
      <p:sp>
        <p:nvSpPr>
          <p:cNvPr id="3" name="Text 1"/>
          <p:cNvSpPr/>
          <p:nvPr/>
        </p:nvSpPr>
        <p:spPr>
          <a:xfrm>
            <a:off x="502920" y="2011680"/>
            <a:ext cx="11185855" cy="2377440"/>
          </a:xfrm>
          <a:prstGeom prst="rect">
            <a:avLst/>
          </a:prstGeom>
          <a:noFill/>
          <a:ln/>
        </p:spPr>
        <p:txBody>
          <a:bodyPr wrap="square"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API Styles in the Agent Era</a:t>
            </a:r>
            <a:endParaRPr lang="en-US" sz="6000" dirty="0"/>
          </a:p>
        </p:txBody>
      </p:sp>
      <p:sp>
        <p:nvSpPr>
          <p:cNvPr id="4" name="Text 2"/>
          <p:cNvSpPr/>
          <p:nvPr/>
        </p:nvSpPr>
        <p:spPr>
          <a:xfrm>
            <a:off x="502920" y="4754880"/>
            <a:ext cx="10271455" cy="6400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MCP is not a new style — it is a contract layered on 30 years of plumbing</a:t>
            </a:r>
            <a:endParaRPr lang="en-US" sz="2200" dirty="0"/>
          </a:p>
        </p:txBody>
      </p:sp>
      <p:sp>
        <p:nvSpPr>
          <p:cNvPr id="5" name="Shape 3"/>
          <p:cNvSpPr/>
          <p:nvPr/>
        </p:nvSpPr>
        <p:spPr>
          <a:xfrm>
            <a:off x="502920" y="4297680"/>
            <a:ext cx="1097280" cy="36576"/>
          </a:xfrm>
          <a:prstGeom prst="rect">
            <a:avLst/>
          </a:prstGeom>
          <a:solidFill>
            <a:srgbClr val="0EA5E9"/>
          </a:solidFill>
          <a:ln/>
        </p:spPr>
      </p:sp>
      <p:sp>
        <p:nvSpPr>
          <p:cNvPr id="6" name="Text 4"/>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FFFFFF"/>
                </a:solidFill>
                <a:latin typeface="Georgia" pitchFamily="34" charset="0"/>
                <a:ea typeface="Georgia" pitchFamily="34" charset="-122"/>
                <a:cs typeface="Georgia" pitchFamily="34" charset="-120"/>
              </a:rPr>
              <a:t>Kamaljeet S Kharbanda</a:t>
            </a:r>
            <a:endParaRPr lang="en-US" sz="1100" dirty="0"/>
          </a:p>
        </p:txBody>
      </p:sp>
      <p:sp>
        <p:nvSpPr>
          <p:cNvPr id="7" name="Text 5"/>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8" name="Text 6"/>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 / 18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What Is an API Style?</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A shape of communication, not a product or a trend</a:t>
            </a:r>
            <a:endParaRPr lang="en-US" sz="1500" dirty="0"/>
          </a:p>
        </p:txBody>
      </p:sp>
      <p:sp>
        <p:nvSpPr>
          <p:cNvPr id="4" name="Shape 2"/>
          <p:cNvSpPr/>
          <p:nvPr/>
        </p:nvSpPr>
        <p:spPr>
          <a:xfrm>
            <a:off x="685800" y="2286000"/>
            <a:ext cx="1280160" cy="1280160"/>
          </a:xfrm>
          <a:prstGeom prst="ellipse">
            <a:avLst/>
          </a:prstGeom>
          <a:solidFill>
            <a:srgbClr val="0284C7"/>
          </a:solidFill>
          <a:ln/>
        </p:spPr>
      </p:sp>
      <p:sp>
        <p:nvSpPr>
          <p:cNvPr id="5" name="Text 3"/>
          <p:cNvSpPr/>
          <p:nvPr/>
        </p:nvSpPr>
        <p:spPr>
          <a:xfrm>
            <a:off x="685800" y="2286000"/>
            <a:ext cx="1280160" cy="128016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API</a:t>
            </a:r>
            <a:endParaRPr lang="en-US" sz="3600" dirty="0"/>
          </a:p>
        </p:txBody>
      </p:sp>
      <p:sp>
        <p:nvSpPr>
          <p:cNvPr id="6" name="Text 4"/>
          <p:cNvSpPr/>
          <p:nvPr/>
        </p:nvSpPr>
        <p:spPr>
          <a:xfrm>
            <a:off x="2423160" y="2103120"/>
            <a:ext cx="9265615" cy="3200400"/>
          </a:xfrm>
          <a:prstGeom prst="rect">
            <a:avLst/>
          </a:prstGeom>
          <a:noFill/>
          <a:ln/>
        </p:spPr>
        <p:txBody>
          <a:bodyPr wrap="square" rtlCol="0" anchor="t"/>
          <a:lstStyle/>
          <a:p>
            <a:pPr indent="0" marL="0">
              <a:buNone/>
            </a:pPr>
            <a:r>
              <a:rPr lang="en-US" sz="1800" dirty="0">
                <a:solidFill>
                  <a:srgbClr val="0F172A"/>
                </a:solidFill>
                <a:latin typeface="Calibri" pitchFamily="34" charset="0"/>
                <a:ea typeface="Calibri" pitchFamily="34" charset="-122"/>
                <a:cs typeface="Calibri" pitchFamily="34" charset="-120"/>
              </a:rPr>
              <a:t>An API style is a paradigm — a set of patterns, protocols, and practices for exposing application interfaces. It is not a vendor. It is not a technology. It is the shape your traffic has. Four shapes cover virtually all distributed systems: one-shot synchronous, streamed, bidirectional, and async-decoupled. Choose the shape your traffic has and the style usually picks itself. Teams that choose by familiarity or trend, then force their traffic to fit, produce working code and broken architectures.</a:t>
            </a:r>
            <a:endParaRPr lang="en-US" sz="1800" dirty="0"/>
          </a:p>
        </p:txBody>
      </p:sp>
      <p:sp>
        <p:nvSpPr>
          <p:cNvPr id="7" name="Shape 5"/>
          <p:cNvSpPr/>
          <p:nvPr/>
        </p:nvSpPr>
        <p:spPr>
          <a:xfrm>
            <a:off x="502920" y="5852160"/>
            <a:ext cx="11185855" cy="365760"/>
          </a:xfrm>
          <a:prstGeom prst="roundRect">
            <a:avLst>
              <a:gd name="adj" fmla="val 20000"/>
            </a:avLst>
          </a:prstGeom>
          <a:solidFill>
            <a:srgbClr val="0F172A"/>
          </a:solidFill>
          <a:ln/>
        </p:spPr>
      </p:sp>
      <p:sp>
        <p:nvSpPr>
          <p:cNvPr id="8" name="Shape 6"/>
          <p:cNvSpPr/>
          <p:nvPr/>
        </p:nvSpPr>
        <p:spPr>
          <a:xfrm>
            <a:off x="667512" y="5943600"/>
            <a:ext cx="182880" cy="182880"/>
          </a:xfrm>
          <a:prstGeom prst="ellipse">
            <a:avLst/>
          </a:prstGeom>
          <a:solidFill>
            <a:srgbClr val="D97706"/>
          </a:solidFill>
          <a:ln/>
        </p:spPr>
      </p:sp>
      <p:sp>
        <p:nvSpPr>
          <p:cNvPr id="9" name="Text 7"/>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style question is really a traffic-shape question — answer that first.</a:t>
            </a:r>
            <a:endParaRPr lang="en-US" sz="1400" dirty="0"/>
          </a:p>
        </p:txBody>
      </p:sp>
      <p:sp>
        <p:nvSpPr>
          <p:cNvPr id="10" name="Text 8"/>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11" name="Text 9"/>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12" name="Text 10"/>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The Seven Styles at a Glance</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Every AI architecture is a composition of several of these</a:t>
            </a:r>
            <a:endParaRPr lang="en-US" sz="1500" dirty="0"/>
          </a:p>
        </p:txBody>
      </p:sp>
      <p:sp>
        <p:nvSpPr>
          <p:cNvPr id="4" name="Shape 2"/>
          <p:cNvSpPr/>
          <p:nvPr/>
        </p:nvSpPr>
        <p:spPr>
          <a:xfrm>
            <a:off x="502920" y="1828800"/>
            <a:ext cx="2796464" cy="411480"/>
          </a:xfrm>
          <a:prstGeom prst="rect">
            <a:avLst/>
          </a:prstGeom>
          <a:solidFill>
            <a:srgbClr val="0F172A"/>
          </a:solidFill>
          <a:ln w="6350">
            <a:solidFill>
              <a:srgbClr val="E2E8F0"/>
            </a:solidFill>
            <a:prstDash val="solid"/>
          </a:ln>
        </p:spPr>
      </p:sp>
      <p:sp>
        <p:nvSpPr>
          <p:cNvPr id="5" name="Text 3"/>
          <p:cNvSpPr/>
          <p:nvPr/>
        </p:nvSpPr>
        <p:spPr>
          <a:xfrm>
            <a:off x="640080"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Style</a:t>
            </a:r>
            <a:endParaRPr lang="en-US" sz="1400" dirty="0"/>
          </a:p>
        </p:txBody>
      </p:sp>
      <p:sp>
        <p:nvSpPr>
          <p:cNvPr id="6" name="Shape 4"/>
          <p:cNvSpPr/>
          <p:nvPr/>
        </p:nvSpPr>
        <p:spPr>
          <a:xfrm>
            <a:off x="3299384" y="1828800"/>
            <a:ext cx="2796464" cy="411480"/>
          </a:xfrm>
          <a:prstGeom prst="rect">
            <a:avLst/>
          </a:prstGeom>
          <a:solidFill>
            <a:srgbClr val="0F172A"/>
          </a:solidFill>
          <a:ln w="6350">
            <a:solidFill>
              <a:srgbClr val="E2E8F0"/>
            </a:solidFill>
            <a:prstDash val="solid"/>
          </a:ln>
        </p:spPr>
      </p:sp>
      <p:sp>
        <p:nvSpPr>
          <p:cNvPr id="7" name="Text 5"/>
          <p:cNvSpPr/>
          <p:nvPr/>
        </p:nvSpPr>
        <p:spPr>
          <a:xfrm>
            <a:off x="3436544"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Protocol</a:t>
            </a:r>
            <a:endParaRPr lang="en-US" sz="1400" dirty="0"/>
          </a:p>
        </p:txBody>
      </p:sp>
      <p:sp>
        <p:nvSpPr>
          <p:cNvPr id="8" name="Shape 6"/>
          <p:cNvSpPr/>
          <p:nvPr/>
        </p:nvSpPr>
        <p:spPr>
          <a:xfrm>
            <a:off x="6095848" y="1828800"/>
            <a:ext cx="2796464" cy="411480"/>
          </a:xfrm>
          <a:prstGeom prst="rect">
            <a:avLst/>
          </a:prstGeom>
          <a:solidFill>
            <a:srgbClr val="0F172A"/>
          </a:solidFill>
          <a:ln w="6350">
            <a:solidFill>
              <a:srgbClr val="E2E8F0"/>
            </a:solidFill>
            <a:prstDash val="solid"/>
          </a:ln>
        </p:spPr>
      </p:sp>
      <p:sp>
        <p:nvSpPr>
          <p:cNvPr id="9" name="Text 7"/>
          <p:cNvSpPr/>
          <p:nvPr/>
        </p:nvSpPr>
        <p:spPr>
          <a:xfrm>
            <a:off x="6233008"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Shape</a:t>
            </a:r>
            <a:endParaRPr lang="en-US" sz="1400" dirty="0"/>
          </a:p>
        </p:txBody>
      </p:sp>
      <p:sp>
        <p:nvSpPr>
          <p:cNvPr id="10" name="Shape 8"/>
          <p:cNvSpPr/>
          <p:nvPr/>
        </p:nvSpPr>
        <p:spPr>
          <a:xfrm>
            <a:off x="8892311" y="1828800"/>
            <a:ext cx="2796464" cy="411480"/>
          </a:xfrm>
          <a:prstGeom prst="rect">
            <a:avLst/>
          </a:prstGeom>
          <a:solidFill>
            <a:srgbClr val="0F172A"/>
          </a:solidFill>
          <a:ln w="6350">
            <a:solidFill>
              <a:srgbClr val="E2E8F0"/>
            </a:solidFill>
            <a:prstDash val="solid"/>
          </a:ln>
        </p:spPr>
      </p:sp>
      <p:sp>
        <p:nvSpPr>
          <p:cNvPr id="11" name="Text 9"/>
          <p:cNvSpPr/>
          <p:nvPr/>
        </p:nvSpPr>
        <p:spPr>
          <a:xfrm>
            <a:off x="9029471"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Typical AI Use</a:t>
            </a:r>
            <a:endParaRPr lang="en-US" sz="1400" dirty="0"/>
          </a:p>
        </p:txBody>
      </p:sp>
      <p:sp>
        <p:nvSpPr>
          <p:cNvPr id="12" name="Shape 10"/>
          <p:cNvSpPr/>
          <p:nvPr/>
        </p:nvSpPr>
        <p:spPr>
          <a:xfrm>
            <a:off x="502920" y="2240280"/>
            <a:ext cx="2796464" cy="704088"/>
          </a:xfrm>
          <a:prstGeom prst="rect">
            <a:avLst/>
          </a:prstGeom>
          <a:solidFill>
            <a:srgbClr val="FFFFFF"/>
          </a:solidFill>
          <a:ln w="6350">
            <a:solidFill>
              <a:srgbClr val="E2E8F0"/>
            </a:solidFill>
            <a:prstDash val="solid"/>
          </a:ln>
        </p:spPr>
      </p:sp>
      <p:sp>
        <p:nvSpPr>
          <p:cNvPr id="13" name="Text 11"/>
          <p:cNvSpPr/>
          <p:nvPr/>
        </p:nvSpPr>
        <p:spPr>
          <a:xfrm>
            <a:off x="640080"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REST</a:t>
            </a:r>
            <a:endParaRPr lang="en-US" sz="1300" dirty="0"/>
          </a:p>
        </p:txBody>
      </p:sp>
      <p:sp>
        <p:nvSpPr>
          <p:cNvPr id="14" name="Shape 12"/>
          <p:cNvSpPr/>
          <p:nvPr/>
        </p:nvSpPr>
        <p:spPr>
          <a:xfrm>
            <a:off x="3299384" y="2240280"/>
            <a:ext cx="2796464" cy="704088"/>
          </a:xfrm>
          <a:prstGeom prst="rect">
            <a:avLst/>
          </a:prstGeom>
          <a:solidFill>
            <a:srgbClr val="FFFFFF"/>
          </a:solidFill>
          <a:ln w="6350">
            <a:solidFill>
              <a:srgbClr val="E2E8F0"/>
            </a:solidFill>
            <a:prstDash val="solid"/>
          </a:ln>
        </p:spPr>
      </p:sp>
      <p:sp>
        <p:nvSpPr>
          <p:cNvPr id="15" name="Text 13"/>
          <p:cNvSpPr/>
          <p:nvPr/>
        </p:nvSpPr>
        <p:spPr>
          <a:xfrm>
            <a:off x="3436544"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HTTP/1.1</a:t>
            </a:r>
            <a:endParaRPr lang="en-US" sz="1300" dirty="0"/>
          </a:p>
        </p:txBody>
      </p:sp>
      <p:sp>
        <p:nvSpPr>
          <p:cNvPr id="16" name="Shape 14"/>
          <p:cNvSpPr/>
          <p:nvPr/>
        </p:nvSpPr>
        <p:spPr>
          <a:xfrm>
            <a:off x="6095848" y="2240280"/>
            <a:ext cx="2796464" cy="704088"/>
          </a:xfrm>
          <a:prstGeom prst="rect">
            <a:avLst/>
          </a:prstGeom>
          <a:solidFill>
            <a:srgbClr val="FFFFFF"/>
          </a:solidFill>
          <a:ln w="6350">
            <a:solidFill>
              <a:srgbClr val="E2E8F0"/>
            </a:solidFill>
            <a:prstDash val="solid"/>
          </a:ln>
        </p:spPr>
      </p:sp>
      <p:sp>
        <p:nvSpPr>
          <p:cNvPr id="17" name="Text 15"/>
          <p:cNvSpPr/>
          <p:nvPr/>
        </p:nvSpPr>
        <p:spPr>
          <a:xfrm>
            <a:off x="6233008"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Sync one-shot</a:t>
            </a:r>
            <a:endParaRPr lang="en-US" sz="1300" dirty="0"/>
          </a:p>
        </p:txBody>
      </p:sp>
      <p:sp>
        <p:nvSpPr>
          <p:cNvPr id="18" name="Shape 16"/>
          <p:cNvSpPr/>
          <p:nvPr/>
        </p:nvSpPr>
        <p:spPr>
          <a:xfrm>
            <a:off x="8892311" y="2240280"/>
            <a:ext cx="2796464" cy="704088"/>
          </a:xfrm>
          <a:prstGeom prst="rect">
            <a:avLst/>
          </a:prstGeom>
          <a:solidFill>
            <a:srgbClr val="FFFFFF"/>
          </a:solidFill>
          <a:ln w="6350">
            <a:solidFill>
              <a:srgbClr val="E2E8F0"/>
            </a:solidFill>
            <a:prstDash val="solid"/>
          </a:ln>
        </p:spPr>
      </p:sp>
      <p:sp>
        <p:nvSpPr>
          <p:cNvPr id="19" name="Text 17"/>
          <p:cNvSpPr/>
          <p:nvPr/>
        </p:nvSpPr>
        <p:spPr>
          <a:xfrm>
            <a:off x="9029471"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LLM chat APIs — OpenAI, Anthropic</a:t>
            </a:r>
            <a:endParaRPr lang="en-US" sz="1300" dirty="0"/>
          </a:p>
        </p:txBody>
      </p:sp>
      <p:sp>
        <p:nvSpPr>
          <p:cNvPr id="20" name="Shape 18"/>
          <p:cNvSpPr/>
          <p:nvPr/>
        </p:nvSpPr>
        <p:spPr>
          <a:xfrm>
            <a:off x="502920" y="2944368"/>
            <a:ext cx="2796464" cy="704088"/>
          </a:xfrm>
          <a:prstGeom prst="rect">
            <a:avLst/>
          </a:prstGeom>
          <a:solidFill>
            <a:srgbClr val="F8FAFC"/>
          </a:solidFill>
          <a:ln w="6350">
            <a:solidFill>
              <a:srgbClr val="E2E8F0"/>
            </a:solidFill>
            <a:prstDash val="solid"/>
          </a:ln>
        </p:spPr>
      </p:sp>
      <p:sp>
        <p:nvSpPr>
          <p:cNvPr id="21" name="Text 19"/>
          <p:cNvSpPr/>
          <p:nvPr/>
        </p:nvSpPr>
        <p:spPr>
          <a:xfrm>
            <a:off x="640080"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GraphQL</a:t>
            </a:r>
            <a:endParaRPr lang="en-US" sz="1300" dirty="0"/>
          </a:p>
        </p:txBody>
      </p:sp>
      <p:sp>
        <p:nvSpPr>
          <p:cNvPr id="22" name="Shape 20"/>
          <p:cNvSpPr/>
          <p:nvPr/>
        </p:nvSpPr>
        <p:spPr>
          <a:xfrm>
            <a:off x="3299384" y="2944368"/>
            <a:ext cx="2796464" cy="704088"/>
          </a:xfrm>
          <a:prstGeom prst="rect">
            <a:avLst/>
          </a:prstGeom>
          <a:solidFill>
            <a:srgbClr val="F8FAFC"/>
          </a:solidFill>
          <a:ln w="6350">
            <a:solidFill>
              <a:srgbClr val="E2E8F0"/>
            </a:solidFill>
            <a:prstDash val="solid"/>
          </a:ln>
        </p:spPr>
      </p:sp>
      <p:sp>
        <p:nvSpPr>
          <p:cNvPr id="23" name="Text 21"/>
          <p:cNvSpPr/>
          <p:nvPr/>
        </p:nvSpPr>
        <p:spPr>
          <a:xfrm>
            <a:off x="3436544"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HTTP / WS</a:t>
            </a:r>
            <a:endParaRPr lang="en-US" sz="1300" dirty="0"/>
          </a:p>
        </p:txBody>
      </p:sp>
      <p:sp>
        <p:nvSpPr>
          <p:cNvPr id="24" name="Shape 22"/>
          <p:cNvSpPr/>
          <p:nvPr/>
        </p:nvSpPr>
        <p:spPr>
          <a:xfrm>
            <a:off x="6095848" y="2944368"/>
            <a:ext cx="2796464" cy="704088"/>
          </a:xfrm>
          <a:prstGeom prst="rect">
            <a:avLst/>
          </a:prstGeom>
          <a:solidFill>
            <a:srgbClr val="F8FAFC"/>
          </a:solidFill>
          <a:ln w="6350">
            <a:solidFill>
              <a:srgbClr val="E2E8F0"/>
            </a:solidFill>
            <a:prstDash val="solid"/>
          </a:ln>
        </p:spPr>
      </p:sp>
      <p:sp>
        <p:nvSpPr>
          <p:cNvPr id="25" name="Text 23"/>
          <p:cNvSpPr/>
          <p:nvPr/>
        </p:nvSpPr>
        <p:spPr>
          <a:xfrm>
            <a:off x="6233008"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Sync one-shot</a:t>
            </a:r>
            <a:endParaRPr lang="en-US" sz="1300" dirty="0"/>
          </a:p>
        </p:txBody>
      </p:sp>
      <p:sp>
        <p:nvSpPr>
          <p:cNvPr id="26" name="Shape 24"/>
          <p:cNvSpPr/>
          <p:nvPr/>
        </p:nvSpPr>
        <p:spPr>
          <a:xfrm>
            <a:off x="8892311" y="2944368"/>
            <a:ext cx="2796464" cy="704088"/>
          </a:xfrm>
          <a:prstGeom prst="rect">
            <a:avLst/>
          </a:prstGeom>
          <a:solidFill>
            <a:srgbClr val="F8FAFC"/>
          </a:solidFill>
          <a:ln w="6350">
            <a:solidFill>
              <a:srgbClr val="E2E8F0"/>
            </a:solidFill>
            <a:prstDash val="solid"/>
          </a:ln>
        </p:spPr>
      </p:sp>
      <p:sp>
        <p:nvSpPr>
          <p:cNvPr id="27" name="Text 25"/>
          <p:cNvSpPr/>
          <p:nvPr/>
        </p:nvSpPr>
        <p:spPr>
          <a:xfrm>
            <a:off x="9029471"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RAG context shaping, no overfetch</a:t>
            </a:r>
            <a:endParaRPr lang="en-US" sz="1300" dirty="0"/>
          </a:p>
        </p:txBody>
      </p:sp>
      <p:sp>
        <p:nvSpPr>
          <p:cNvPr id="28" name="Shape 26"/>
          <p:cNvSpPr/>
          <p:nvPr/>
        </p:nvSpPr>
        <p:spPr>
          <a:xfrm>
            <a:off x="502920" y="3648456"/>
            <a:ext cx="2796464" cy="704088"/>
          </a:xfrm>
          <a:prstGeom prst="rect">
            <a:avLst/>
          </a:prstGeom>
          <a:solidFill>
            <a:srgbClr val="FFFFFF"/>
          </a:solidFill>
          <a:ln w="6350">
            <a:solidFill>
              <a:srgbClr val="E2E8F0"/>
            </a:solidFill>
            <a:prstDash val="solid"/>
          </a:ln>
        </p:spPr>
      </p:sp>
      <p:sp>
        <p:nvSpPr>
          <p:cNvPr id="29" name="Text 27"/>
          <p:cNvSpPr/>
          <p:nvPr/>
        </p:nvSpPr>
        <p:spPr>
          <a:xfrm>
            <a:off x="640080"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gRPC</a:t>
            </a:r>
            <a:endParaRPr lang="en-US" sz="1300" dirty="0"/>
          </a:p>
        </p:txBody>
      </p:sp>
      <p:sp>
        <p:nvSpPr>
          <p:cNvPr id="30" name="Shape 28"/>
          <p:cNvSpPr/>
          <p:nvPr/>
        </p:nvSpPr>
        <p:spPr>
          <a:xfrm>
            <a:off x="3299384" y="3648456"/>
            <a:ext cx="2796464" cy="704088"/>
          </a:xfrm>
          <a:prstGeom prst="rect">
            <a:avLst/>
          </a:prstGeom>
          <a:solidFill>
            <a:srgbClr val="FFFFFF"/>
          </a:solidFill>
          <a:ln w="6350">
            <a:solidFill>
              <a:srgbClr val="E2E8F0"/>
            </a:solidFill>
            <a:prstDash val="solid"/>
          </a:ln>
        </p:spPr>
      </p:sp>
      <p:sp>
        <p:nvSpPr>
          <p:cNvPr id="31" name="Text 29"/>
          <p:cNvSpPr/>
          <p:nvPr/>
        </p:nvSpPr>
        <p:spPr>
          <a:xfrm>
            <a:off x="3436544"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HTTP/2</a:t>
            </a:r>
            <a:endParaRPr lang="en-US" sz="1300" dirty="0"/>
          </a:p>
        </p:txBody>
      </p:sp>
      <p:sp>
        <p:nvSpPr>
          <p:cNvPr id="32" name="Shape 30"/>
          <p:cNvSpPr/>
          <p:nvPr/>
        </p:nvSpPr>
        <p:spPr>
          <a:xfrm>
            <a:off x="6095848" y="3648456"/>
            <a:ext cx="2796464" cy="704088"/>
          </a:xfrm>
          <a:prstGeom prst="rect">
            <a:avLst/>
          </a:prstGeom>
          <a:solidFill>
            <a:srgbClr val="FFFFFF"/>
          </a:solidFill>
          <a:ln w="6350">
            <a:solidFill>
              <a:srgbClr val="E2E8F0"/>
            </a:solidFill>
            <a:prstDash val="solid"/>
          </a:ln>
        </p:spPr>
      </p:sp>
      <p:sp>
        <p:nvSpPr>
          <p:cNvPr id="33" name="Text 31"/>
          <p:cNvSpPr/>
          <p:nvPr/>
        </p:nvSpPr>
        <p:spPr>
          <a:xfrm>
            <a:off x="6233008"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Sync + streaming</a:t>
            </a:r>
            <a:endParaRPr lang="en-US" sz="1300" dirty="0"/>
          </a:p>
        </p:txBody>
      </p:sp>
      <p:sp>
        <p:nvSpPr>
          <p:cNvPr id="34" name="Shape 32"/>
          <p:cNvSpPr/>
          <p:nvPr/>
        </p:nvSpPr>
        <p:spPr>
          <a:xfrm>
            <a:off x="8892311" y="3648456"/>
            <a:ext cx="2796464" cy="704088"/>
          </a:xfrm>
          <a:prstGeom prst="rect">
            <a:avLst/>
          </a:prstGeom>
          <a:solidFill>
            <a:srgbClr val="FFFFFF"/>
          </a:solidFill>
          <a:ln w="6350">
            <a:solidFill>
              <a:srgbClr val="E2E8F0"/>
            </a:solidFill>
            <a:prstDash val="solid"/>
          </a:ln>
        </p:spPr>
      </p:sp>
      <p:sp>
        <p:nvSpPr>
          <p:cNvPr id="35" name="Text 33"/>
          <p:cNvSpPr/>
          <p:nvPr/>
        </p:nvSpPr>
        <p:spPr>
          <a:xfrm>
            <a:off x="9029471"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Internal serving — Triton, vLLM</a:t>
            </a:r>
            <a:endParaRPr lang="en-US" sz="1300" dirty="0"/>
          </a:p>
        </p:txBody>
      </p:sp>
      <p:sp>
        <p:nvSpPr>
          <p:cNvPr id="36" name="Shape 34"/>
          <p:cNvSpPr/>
          <p:nvPr/>
        </p:nvSpPr>
        <p:spPr>
          <a:xfrm>
            <a:off x="502920" y="4352544"/>
            <a:ext cx="2796464" cy="704088"/>
          </a:xfrm>
          <a:prstGeom prst="rect">
            <a:avLst/>
          </a:prstGeom>
          <a:solidFill>
            <a:srgbClr val="F8FAFC"/>
          </a:solidFill>
          <a:ln w="6350">
            <a:solidFill>
              <a:srgbClr val="E2E8F0"/>
            </a:solidFill>
            <a:prstDash val="solid"/>
          </a:ln>
        </p:spPr>
      </p:sp>
      <p:sp>
        <p:nvSpPr>
          <p:cNvPr id="37" name="Text 35"/>
          <p:cNvSpPr/>
          <p:nvPr/>
        </p:nvSpPr>
        <p:spPr>
          <a:xfrm>
            <a:off x="640080"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SSE</a:t>
            </a:r>
            <a:endParaRPr lang="en-US" sz="1300" dirty="0"/>
          </a:p>
        </p:txBody>
      </p:sp>
      <p:sp>
        <p:nvSpPr>
          <p:cNvPr id="38" name="Shape 36"/>
          <p:cNvSpPr/>
          <p:nvPr/>
        </p:nvSpPr>
        <p:spPr>
          <a:xfrm>
            <a:off x="3299384" y="4352544"/>
            <a:ext cx="2796464" cy="704088"/>
          </a:xfrm>
          <a:prstGeom prst="rect">
            <a:avLst/>
          </a:prstGeom>
          <a:solidFill>
            <a:srgbClr val="F8FAFC"/>
          </a:solidFill>
          <a:ln w="6350">
            <a:solidFill>
              <a:srgbClr val="E2E8F0"/>
            </a:solidFill>
            <a:prstDash val="solid"/>
          </a:ln>
        </p:spPr>
      </p:sp>
      <p:sp>
        <p:nvSpPr>
          <p:cNvPr id="39" name="Text 37"/>
          <p:cNvSpPr/>
          <p:nvPr/>
        </p:nvSpPr>
        <p:spPr>
          <a:xfrm>
            <a:off x="3436544"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HTTP</a:t>
            </a:r>
            <a:endParaRPr lang="en-US" sz="1300" dirty="0"/>
          </a:p>
        </p:txBody>
      </p:sp>
      <p:sp>
        <p:nvSpPr>
          <p:cNvPr id="40" name="Shape 38"/>
          <p:cNvSpPr/>
          <p:nvPr/>
        </p:nvSpPr>
        <p:spPr>
          <a:xfrm>
            <a:off x="6095848" y="4352544"/>
            <a:ext cx="2796464" cy="704088"/>
          </a:xfrm>
          <a:prstGeom prst="rect">
            <a:avLst/>
          </a:prstGeom>
          <a:solidFill>
            <a:srgbClr val="F8FAFC"/>
          </a:solidFill>
          <a:ln w="6350">
            <a:solidFill>
              <a:srgbClr val="E2E8F0"/>
            </a:solidFill>
            <a:prstDash val="solid"/>
          </a:ln>
        </p:spPr>
      </p:sp>
      <p:sp>
        <p:nvSpPr>
          <p:cNvPr id="41" name="Text 39"/>
          <p:cNvSpPr/>
          <p:nvPr/>
        </p:nvSpPr>
        <p:spPr>
          <a:xfrm>
            <a:off x="6233008"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Server-push stream</a:t>
            </a:r>
            <a:endParaRPr lang="en-US" sz="1300" dirty="0"/>
          </a:p>
        </p:txBody>
      </p:sp>
      <p:sp>
        <p:nvSpPr>
          <p:cNvPr id="42" name="Shape 40"/>
          <p:cNvSpPr/>
          <p:nvPr/>
        </p:nvSpPr>
        <p:spPr>
          <a:xfrm>
            <a:off x="8892311" y="4352544"/>
            <a:ext cx="2796464" cy="704088"/>
          </a:xfrm>
          <a:prstGeom prst="rect">
            <a:avLst/>
          </a:prstGeom>
          <a:solidFill>
            <a:srgbClr val="F8FAFC"/>
          </a:solidFill>
          <a:ln w="6350">
            <a:solidFill>
              <a:srgbClr val="E2E8F0"/>
            </a:solidFill>
            <a:prstDash val="solid"/>
          </a:ln>
        </p:spPr>
      </p:sp>
      <p:sp>
        <p:nvSpPr>
          <p:cNvPr id="43" name="Text 41"/>
          <p:cNvSpPr/>
          <p:nvPr/>
        </p:nvSpPr>
        <p:spPr>
          <a:xfrm>
            <a:off x="9029471"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Token-by-token chat streaming</a:t>
            </a:r>
            <a:endParaRPr lang="en-US" sz="1300" dirty="0"/>
          </a:p>
        </p:txBody>
      </p:sp>
      <p:sp>
        <p:nvSpPr>
          <p:cNvPr id="44" name="Shape 42"/>
          <p:cNvSpPr/>
          <p:nvPr/>
        </p:nvSpPr>
        <p:spPr>
          <a:xfrm>
            <a:off x="502920" y="5056632"/>
            <a:ext cx="2796464" cy="704088"/>
          </a:xfrm>
          <a:prstGeom prst="rect">
            <a:avLst/>
          </a:prstGeom>
          <a:solidFill>
            <a:srgbClr val="FFFFFF"/>
          </a:solidFill>
          <a:ln w="6350">
            <a:solidFill>
              <a:srgbClr val="E2E8F0"/>
            </a:solidFill>
            <a:prstDash val="solid"/>
          </a:ln>
        </p:spPr>
      </p:sp>
      <p:sp>
        <p:nvSpPr>
          <p:cNvPr id="45" name="Text 43"/>
          <p:cNvSpPr/>
          <p:nvPr/>
        </p:nvSpPr>
        <p:spPr>
          <a:xfrm>
            <a:off x="640080"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WebSocket</a:t>
            </a:r>
            <a:endParaRPr lang="en-US" sz="1300" dirty="0"/>
          </a:p>
        </p:txBody>
      </p:sp>
      <p:sp>
        <p:nvSpPr>
          <p:cNvPr id="46" name="Shape 44"/>
          <p:cNvSpPr/>
          <p:nvPr/>
        </p:nvSpPr>
        <p:spPr>
          <a:xfrm>
            <a:off x="3299384" y="5056632"/>
            <a:ext cx="2796464" cy="704088"/>
          </a:xfrm>
          <a:prstGeom prst="rect">
            <a:avLst/>
          </a:prstGeom>
          <a:solidFill>
            <a:srgbClr val="FFFFFF"/>
          </a:solidFill>
          <a:ln w="6350">
            <a:solidFill>
              <a:srgbClr val="E2E8F0"/>
            </a:solidFill>
            <a:prstDash val="solid"/>
          </a:ln>
        </p:spPr>
      </p:sp>
      <p:sp>
        <p:nvSpPr>
          <p:cNvPr id="47" name="Text 45"/>
          <p:cNvSpPr/>
          <p:nvPr/>
        </p:nvSpPr>
        <p:spPr>
          <a:xfrm>
            <a:off x="3436544"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TCP/WS</a:t>
            </a:r>
            <a:endParaRPr lang="en-US" sz="1300" dirty="0"/>
          </a:p>
        </p:txBody>
      </p:sp>
      <p:sp>
        <p:nvSpPr>
          <p:cNvPr id="48" name="Shape 46"/>
          <p:cNvSpPr/>
          <p:nvPr/>
        </p:nvSpPr>
        <p:spPr>
          <a:xfrm>
            <a:off x="6095848" y="5056632"/>
            <a:ext cx="2796464" cy="704088"/>
          </a:xfrm>
          <a:prstGeom prst="rect">
            <a:avLst/>
          </a:prstGeom>
          <a:solidFill>
            <a:srgbClr val="FFFFFF"/>
          </a:solidFill>
          <a:ln w="6350">
            <a:solidFill>
              <a:srgbClr val="E2E8F0"/>
            </a:solidFill>
            <a:prstDash val="solid"/>
          </a:ln>
        </p:spPr>
      </p:sp>
      <p:sp>
        <p:nvSpPr>
          <p:cNvPr id="49" name="Text 47"/>
          <p:cNvSpPr/>
          <p:nvPr/>
        </p:nvSpPr>
        <p:spPr>
          <a:xfrm>
            <a:off x="6233008"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Bidirectional duplex</a:t>
            </a:r>
            <a:endParaRPr lang="en-US" sz="1300" dirty="0"/>
          </a:p>
        </p:txBody>
      </p:sp>
      <p:sp>
        <p:nvSpPr>
          <p:cNvPr id="50" name="Shape 48"/>
          <p:cNvSpPr/>
          <p:nvPr/>
        </p:nvSpPr>
        <p:spPr>
          <a:xfrm>
            <a:off x="8892311" y="5056632"/>
            <a:ext cx="2796464" cy="704088"/>
          </a:xfrm>
          <a:prstGeom prst="rect">
            <a:avLst/>
          </a:prstGeom>
          <a:solidFill>
            <a:srgbClr val="FFFFFF"/>
          </a:solidFill>
          <a:ln w="6350">
            <a:solidFill>
              <a:srgbClr val="E2E8F0"/>
            </a:solidFill>
            <a:prstDash val="solid"/>
          </a:ln>
        </p:spPr>
      </p:sp>
      <p:sp>
        <p:nvSpPr>
          <p:cNvPr id="51" name="Text 49"/>
          <p:cNvSpPr/>
          <p:nvPr/>
        </p:nvSpPr>
        <p:spPr>
          <a:xfrm>
            <a:off x="9029471"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Voice agents, realtime multimodal</a:t>
            </a:r>
            <a:endParaRPr lang="en-US" sz="1300" dirty="0"/>
          </a:p>
        </p:txBody>
      </p:sp>
      <p:sp>
        <p:nvSpPr>
          <p:cNvPr id="52" name="Shape 50"/>
          <p:cNvSpPr/>
          <p:nvPr/>
        </p:nvSpPr>
        <p:spPr>
          <a:xfrm>
            <a:off x="502920" y="5852160"/>
            <a:ext cx="11185855" cy="365760"/>
          </a:xfrm>
          <a:prstGeom prst="roundRect">
            <a:avLst>
              <a:gd name="adj" fmla="val 20000"/>
            </a:avLst>
          </a:prstGeom>
          <a:solidFill>
            <a:srgbClr val="0F172A"/>
          </a:solidFill>
          <a:ln/>
        </p:spPr>
      </p:sp>
      <p:sp>
        <p:nvSpPr>
          <p:cNvPr id="53" name="Shape 51"/>
          <p:cNvSpPr/>
          <p:nvPr/>
        </p:nvSpPr>
        <p:spPr>
          <a:xfrm>
            <a:off x="667512" y="5943600"/>
            <a:ext cx="182880" cy="182880"/>
          </a:xfrm>
          <a:prstGeom prst="ellipse">
            <a:avLst/>
          </a:prstGeom>
          <a:solidFill>
            <a:srgbClr val="D97706"/>
          </a:solidFill>
          <a:ln/>
        </p:spPr>
      </p:sp>
      <p:sp>
        <p:nvSpPr>
          <p:cNvPr id="54" name="Text 52"/>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No single AI product uses just one style — map all seven before you architect.</a:t>
            </a:r>
            <a:endParaRPr lang="en-US" sz="1400" dirty="0"/>
          </a:p>
        </p:txBody>
      </p:sp>
      <p:sp>
        <p:nvSpPr>
          <p:cNvPr id="55" name="Text 53"/>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56" name="Text 54"/>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57" name="Text 55"/>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 / 18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Request-Response Styles</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The synchronous trio powering most AI frontends today</a:t>
            </a:r>
            <a:endParaRPr lang="en-US" sz="1500" dirty="0"/>
          </a:p>
        </p:txBody>
      </p:sp>
      <p:sp>
        <p:nvSpPr>
          <p:cNvPr id="4" name="Shape 2"/>
          <p:cNvSpPr/>
          <p:nvPr/>
        </p:nvSpPr>
        <p:spPr>
          <a:xfrm>
            <a:off x="502920" y="1828800"/>
            <a:ext cx="3594506" cy="3931920"/>
          </a:xfrm>
          <a:prstGeom prst="roundRect">
            <a:avLst>
              <a:gd name="adj" fmla="val 2035"/>
            </a:avLst>
          </a:prstGeom>
          <a:solidFill>
            <a:srgbClr val="E0F2FE"/>
          </a:solidFill>
          <a:ln w="9525">
            <a:solidFill>
              <a:srgbClr val="E2E8F0"/>
            </a:solidFill>
            <a:prstDash val="solid"/>
          </a:ln>
        </p:spPr>
      </p:sp>
      <p:sp>
        <p:nvSpPr>
          <p:cNvPr id="5" name="Shape 3"/>
          <p:cNvSpPr/>
          <p:nvPr/>
        </p:nvSpPr>
        <p:spPr>
          <a:xfrm>
            <a:off x="502920" y="1828800"/>
            <a:ext cx="3594506" cy="91440"/>
          </a:xfrm>
          <a:prstGeom prst="roundRect">
            <a:avLst>
              <a:gd name="adj" fmla="val 80000"/>
            </a:avLst>
          </a:prstGeom>
          <a:solidFill>
            <a:srgbClr val="0284C7"/>
          </a:solidFill>
          <a:ln/>
        </p:spPr>
      </p:sp>
      <p:sp>
        <p:nvSpPr>
          <p:cNvPr id="6" name="Shape 4"/>
          <p:cNvSpPr/>
          <p:nvPr/>
        </p:nvSpPr>
        <p:spPr>
          <a:xfrm>
            <a:off x="502920" y="1874520"/>
            <a:ext cx="3594506" cy="45720"/>
          </a:xfrm>
          <a:prstGeom prst="rect">
            <a:avLst/>
          </a:prstGeom>
          <a:solidFill>
            <a:srgbClr val="0284C7"/>
          </a:solidFill>
          <a:ln/>
        </p:spPr>
      </p:sp>
      <p:sp>
        <p:nvSpPr>
          <p:cNvPr id="7" name="Shape 5"/>
          <p:cNvSpPr/>
          <p:nvPr/>
        </p:nvSpPr>
        <p:spPr>
          <a:xfrm>
            <a:off x="731520" y="2103120"/>
            <a:ext cx="457200" cy="457200"/>
          </a:xfrm>
          <a:prstGeom prst="ellipse">
            <a:avLst/>
          </a:prstGeom>
          <a:solidFill>
            <a:srgbClr val="0284C7"/>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a:t>
            </a:r>
            <a:endParaRPr lang="en-US" sz="1400" dirty="0"/>
          </a:p>
        </p:txBody>
      </p:sp>
      <p:sp>
        <p:nvSpPr>
          <p:cNvPr id="9" name="Text 7"/>
          <p:cNvSpPr/>
          <p:nvPr/>
        </p:nvSpPr>
        <p:spPr>
          <a:xfrm>
            <a:off x="1371600"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REST</a:t>
            </a:r>
            <a:endParaRPr lang="en-US" sz="1600" dirty="0"/>
          </a:p>
        </p:txBody>
      </p:sp>
      <p:sp>
        <p:nvSpPr>
          <p:cNvPr id="10" name="Text 8"/>
          <p:cNvSpPr/>
          <p:nvPr/>
        </p:nvSpPr>
        <p:spPr>
          <a:xfrm>
            <a:off x="731520"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Resource URLs plus fixed verbs — GET, POST, PUT, DELETE. JSON on the wire. Every LLM chat API — OpenAI, Anthropic, HF Inference — is a REST POST. Stateless, CDN-friendly, debuggable with curl.</a:t>
            </a:r>
            <a:endParaRPr lang="en-US" sz="1300" dirty="0"/>
          </a:p>
        </p:txBody>
      </p:sp>
      <p:sp>
        <p:nvSpPr>
          <p:cNvPr id="11" name="Text 9"/>
          <p:cNvSpPr/>
          <p:nvPr/>
        </p:nvSpPr>
        <p:spPr>
          <a:xfrm>
            <a:off x="731520" y="5394960"/>
            <a:ext cx="3137306" cy="274320"/>
          </a:xfrm>
          <a:prstGeom prst="rect">
            <a:avLst/>
          </a:prstGeom>
          <a:noFill/>
          <a:ln/>
        </p:spPr>
        <p:txBody>
          <a:bodyPr wrap="square" rtlCol="0" anchor="b"/>
          <a:lstStyle/>
          <a:p>
            <a:pPr indent="0" marL="0">
              <a:buNone/>
            </a:pPr>
            <a:r>
              <a:rPr lang="en-US" sz="1100" b="1" dirty="0">
                <a:solidFill>
                  <a:srgbClr val="0284C7"/>
                </a:solidFill>
                <a:latin typeface="Calibri" pitchFamily="34" charset="0"/>
                <a:ea typeface="Calibri" pitchFamily="34" charset="-122"/>
                <a:cs typeface="Calibri" pitchFamily="34" charset="-120"/>
              </a:rPr>
              <a:t>Default style for every LLM chat call.</a:t>
            </a:r>
            <a:endParaRPr lang="en-US" sz="1100" dirty="0"/>
          </a:p>
        </p:txBody>
      </p:sp>
      <p:sp>
        <p:nvSpPr>
          <p:cNvPr id="12" name="Shape 10"/>
          <p:cNvSpPr/>
          <p:nvPr/>
        </p:nvSpPr>
        <p:spPr>
          <a:xfrm>
            <a:off x="4298594" y="1828800"/>
            <a:ext cx="3594506" cy="3931920"/>
          </a:xfrm>
          <a:prstGeom prst="roundRect">
            <a:avLst>
              <a:gd name="adj" fmla="val 2035"/>
            </a:avLst>
          </a:prstGeom>
          <a:solidFill>
            <a:srgbClr val="CCFBF1"/>
          </a:solidFill>
          <a:ln w="9525">
            <a:solidFill>
              <a:srgbClr val="E2E8F0"/>
            </a:solidFill>
            <a:prstDash val="solid"/>
          </a:ln>
        </p:spPr>
      </p:sp>
      <p:sp>
        <p:nvSpPr>
          <p:cNvPr id="13" name="Shape 11"/>
          <p:cNvSpPr/>
          <p:nvPr/>
        </p:nvSpPr>
        <p:spPr>
          <a:xfrm>
            <a:off x="4298594" y="1828800"/>
            <a:ext cx="3594506" cy="91440"/>
          </a:xfrm>
          <a:prstGeom prst="roundRect">
            <a:avLst>
              <a:gd name="adj" fmla="val 80000"/>
            </a:avLst>
          </a:prstGeom>
          <a:solidFill>
            <a:srgbClr val="0D9488"/>
          </a:solidFill>
          <a:ln/>
        </p:spPr>
      </p:sp>
      <p:sp>
        <p:nvSpPr>
          <p:cNvPr id="14" name="Shape 12"/>
          <p:cNvSpPr/>
          <p:nvPr/>
        </p:nvSpPr>
        <p:spPr>
          <a:xfrm>
            <a:off x="4298594" y="1874520"/>
            <a:ext cx="3594506" cy="45720"/>
          </a:xfrm>
          <a:prstGeom prst="rect">
            <a:avLst/>
          </a:prstGeom>
          <a:solidFill>
            <a:srgbClr val="0D9488"/>
          </a:solidFill>
          <a:ln/>
        </p:spPr>
      </p:sp>
      <p:sp>
        <p:nvSpPr>
          <p:cNvPr id="15" name="Shape 13"/>
          <p:cNvSpPr/>
          <p:nvPr/>
        </p:nvSpPr>
        <p:spPr>
          <a:xfrm>
            <a:off x="4527194" y="2103120"/>
            <a:ext cx="457200" cy="457200"/>
          </a:xfrm>
          <a:prstGeom prst="ellipse">
            <a:avLst/>
          </a:prstGeom>
          <a:solidFill>
            <a:srgbClr val="0D9488"/>
          </a:solidFill>
          <a:ln/>
        </p:spPr>
      </p:sp>
      <p:sp>
        <p:nvSpPr>
          <p:cNvPr id="16" name="Text 14"/>
          <p:cNvSpPr/>
          <p:nvPr/>
        </p:nvSpPr>
        <p:spPr>
          <a:xfrm>
            <a:off x="4527194"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GQ</a:t>
            </a:r>
            <a:endParaRPr lang="en-US" sz="1400" dirty="0"/>
          </a:p>
        </p:txBody>
      </p:sp>
      <p:sp>
        <p:nvSpPr>
          <p:cNvPr id="17" name="Text 15"/>
          <p:cNvSpPr/>
          <p:nvPr/>
        </p:nvSpPr>
        <p:spPr>
          <a:xfrm>
            <a:off x="5167274"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GraphQL</a:t>
            </a:r>
            <a:endParaRPr lang="en-US" sz="1600" dirty="0"/>
          </a:p>
        </p:txBody>
      </p:sp>
      <p:sp>
        <p:nvSpPr>
          <p:cNvPr id="18" name="Text 16"/>
          <p:cNvSpPr/>
          <p:nvPr/>
        </p:nvSpPr>
        <p:spPr>
          <a:xfrm>
            <a:off x="4527194"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Client specifies exactly which fields it wants from a typed schema. One endpoint, one round trip, zero overfetching. RAG pipelines use it to pull only the fields the LLM needs, conserving context window and token cost.</a:t>
            </a:r>
            <a:endParaRPr lang="en-US" sz="1300" dirty="0"/>
          </a:p>
        </p:txBody>
      </p:sp>
      <p:sp>
        <p:nvSpPr>
          <p:cNvPr id="19" name="Text 17"/>
          <p:cNvSpPr/>
          <p:nvPr/>
        </p:nvSpPr>
        <p:spPr>
          <a:xfrm>
            <a:off x="4527194" y="5394960"/>
            <a:ext cx="3137306"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Precision context retrieval for RAG pipelines.</a:t>
            </a:r>
            <a:endParaRPr lang="en-US" sz="1100" dirty="0"/>
          </a:p>
        </p:txBody>
      </p:sp>
      <p:sp>
        <p:nvSpPr>
          <p:cNvPr id="20" name="Shape 18"/>
          <p:cNvSpPr/>
          <p:nvPr/>
        </p:nvSpPr>
        <p:spPr>
          <a:xfrm>
            <a:off x="8094269" y="1828800"/>
            <a:ext cx="3594506" cy="3931920"/>
          </a:xfrm>
          <a:prstGeom prst="roundRect">
            <a:avLst>
              <a:gd name="adj" fmla="val 2035"/>
            </a:avLst>
          </a:prstGeom>
          <a:solidFill>
            <a:srgbClr val="FEF3C7"/>
          </a:solidFill>
          <a:ln w="9525">
            <a:solidFill>
              <a:srgbClr val="E2E8F0"/>
            </a:solidFill>
            <a:prstDash val="solid"/>
          </a:ln>
        </p:spPr>
      </p:sp>
      <p:sp>
        <p:nvSpPr>
          <p:cNvPr id="21" name="Shape 19"/>
          <p:cNvSpPr/>
          <p:nvPr/>
        </p:nvSpPr>
        <p:spPr>
          <a:xfrm>
            <a:off x="8094269" y="1828800"/>
            <a:ext cx="3594506" cy="91440"/>
          </a:xfrm>
          <a:prstGeom prst="roundRect">
            <a:avLst>
              <a:gd name="adj" fmla="val 80000"/>
            </a:avLst>
          </a:prstGeom>
          <a:solidFill>
            <a:srgbClr val="D97706"/>
          </a:solidFill>
          <a:ln/>
        </p:spPr>
      </p:sp>
      <p:sp>
        <p:nvSpPr>
          <p:cNvPr id="22" name="Shape 20"/>
          <p:cNvSpPr/>
          <p:nvPr/>
        </p:nvSpPr>
        <p:spPr>
          <a:xfrm>
            <a:off x="8094269" y="1874520"/>
            <a:ext cx="3594506" cy="45720"/>
          </a:xfrm>
          <a:prstGeom prst="rect">
            <a:avLst/>
          </a:prstGeom>
          <a:solidFill>
            <a:srgbClr val="D97706"/>
          </a:solidFill>
          <a:ln/>
        </p:spPr>
      </p:sp>
      <p:sp>
        <p:nvSpPr>
          <p:cNvPr id="23" name="Shape 21"/>
          <p:cNvSpPr/>
          <p:nvPr/>
        </p:nvSpPr>
        <p:spPr>
          <a:xfrm>
            <a:off x="8322869" y="2103120"/>
            <a:ext cx="457200" cy="457200"/>
          </a:xfrm>
          <a:prstGeom prst="ellipse">
            <a:avLst/>
          </a:prstGeom>
          <a:solidFill>
            <a:srgbClr val="D97706"/>
          </a:solidFill>
          <a:ln/>
        </p:spPr>
      </p:sp>
      <p:sp>
        <p:nvSpPr>
          <p:cNvPr id="24" name="Text 22"/>
          <p:cNvSpPr/>
          <p:nvPr/>
        </p:nvSpPr>
        <p:spPr>
          <a:xfrm>
            <a:off x="8322869"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a:t>
            </a:r>
            <a:endParaRPr lang="en-US" sz="1400" dirty="0"/>
          </a:p>
        </p:txBody>
      </p:sp>
      <p:sp>
        <p:nvSpPr>
          <p:cNvPr id="25" name="Text 23"/>
          <p:cNvSpPr/>
          <p:nvPr/>
        </p:nvSpPr>
        <p:spPr>
          <a:xfrm>
            <a:off x="8962949"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gRPC</a:t>
            </a:r>
            <a:endParaRPr lang="en-US" sz="1600" dirty="0"/>
          </a:p>
        </p:txBody>
      </p:sp>
      <p:sp>
        <p:nvSpPr>
          <p:cNvPr id="26" name="Text 24"/>
          <p:cNvSpPr/>
          <p:nvPr/>
        </p:nvSpPr>
        <p:spPr>
          <a:xfrm>
            <a:off x="8322869"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Proto-defined functions, binary Protocol Buffers, HTTP/2 multiplexing. Four modes including bidirectional streaming. Triton, TF Serving, and vLLM all speak gRPC internally for high-throughput inference traffic.</a:t>
            </a:r>
            <a:endParaRPr lang="en-US" sz="1300" dirty="0"/>
          </a:p>
        </p:txBody>
      </p:sp>
      <p:sp>
        <p:nvSpPr>
          <p:cNvPr id="27" name="Text 25"/>
          <p:cNvSpPr/>
          <p:nvPr/>
        </p:nvSpPr>
        <p:spPr>
          <a:xfrm>
            <a:off x="8322869" y="5394960"/>
            <a:ext cx="3137306" cy="274320"/>
          </a:xfrm>
          <a:prstGeom prst="rect">
            <a:avLst/>
          </a:prstGeom>
          <a:noFill/>
          <a:ln/>
        </p:spPr>
        <p:txBody>
          <a:bodyPr wrap="square" rtlCol="0" anchor="b"/>
          <a:lstStyle/>
          <a:p>
            <a:pPr indent="0" marL="0">
              <a:buNone/>
            </a:pPr>
            <a:r>
              <a:rPr lang="en-US" sz="1100" b="1" dirty="0">
                <a:solidFill>
                  <a:srgbClr val="D97706"/>
                </a:solidFill>
                <a:latin typeface="Calibri" pitchFamily="34" charset="0"/>
                <a:ea typeface="Calibri" pitchFamily="34" charset="-122"/>
                <a:cs typeface="Calibri" pitchFamily="34" charset="-120"/>
              </a:rPr>
              <a:t>The spine for internal model serving at scale.</a:t>
            </a:r>
            <a:endParaRPr lang="en-US" sz="1100" dirty="0"/>
          </a:p>
        </p:txBody>
      </p:sp>
      <p:sp>
        <p:nvSpPr>
          <p:cNvPr id="28" name="Shape 26"/>
          <p:cNvSpPr/>
          <p:nvPr/>
        </p:nvSpPr>
        <p:spPr>
          <a:xfrm>
            <a:off x="502920" y="5852160"/>
            <a:ext cx="11185855" cy="365760"/>
          </a:xfrm>
          <a:prstGeom prst="roundRect">
            <a:avLst>
              <a:gd name="adj" fmla="val 20000"/>
            </a:avLst>
          </a:prstGeom>
          <a:solidFill>
            <a:srgbClr val="0F172A"/>
          </a:solidFill>
          <a:ln/>
        </p:spPr>
      </p:sp>
      <p:sp>
        <p:nvSpPr>
          <p:cNvPr id="29" name="Shape 27"/>
          <p:cNvSpPr/>
          <p:nvPr/>
        </p:nvSpPr>
        <p:spPr>
          <a:xfrm>
            <a:off x="667512" y="5943600"/>
            <a:ext cx="182880" cy="182880"/>
          </a:xfrm>
          <a:prstGeom prst="ellipse">
            <a:avLst/>
          </a:prstGeom>
          <a:solidFill>
            <a:srgbClr val="D97706"/>
          </a:solidFill>
          <a:ln/>
        </p:spPr>
      </p:sp>
      <p:sp>
        <p:nvSpPr>
          <p:cNvPr id="30" name="Text 28"/>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REST is for the edge; gRPC is for the spine. Do not swap them.</a:t>
            </a:r>
            <a:endParaRPr lang="en-US" sz="1400" dirty="0"/>
          </a:p>
        </p:txBody>
      </p:sp>
      <p:sp>
        <p:nvSpPr>
          <p:cNvPr id="31" name="Text 29"/>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32" name="Text 30"/>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33" name="Text 31"/>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Streaming and Async Styles</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Four styles that handle time — tokens, audio, events, and queues</a:t>
            </a:r>
            <a:endParaRPr lang="en-US" sz="1500" dirty="0"/>
          </a:p>
        </p:txBody>
      </p:sp>
      <p:sp>
        <p:nvSpPr>
          <p:cNvPr id="4" name="Shape 2"/>
          <p:cNvSpPr/>
          <p:nvPr/>
        </p:nvSpPr>
        <p:spPr>
          <a:xfrm>
            <a:off x="502920" y="1828800"/>
            <a:ext cx="5492344" cy="1865376"/>
          </a:xfrm>
          <a:prstGeom prst="roundRect">
            <a:avLst>
              <a:gd name="adj" fmla="val 3922"/>
            </a:avLst>
          </a:prstGeom>
          <a:solidFill>
            <a:srgbClr val="E0F2FE"/>
          </a:solidFill>
          <a:ln w="9525">
            <a:solidFill>
              <a:srgbClr val="E2E8F0"/>
            </a:solidFill>
            <a:prstDash val="solid"/>
          </a:ln>
        </p:spPr>
      </p:sp>
      <p:sp>
        <p:nvSpPr>
          <p:cNvPr id="5" name="Shape 3"/>
          <p:cNvSpPr/>
          <p:nvPr/>
        </p:nvSpPr>
        <p:spPr>
          <a:xfrm>
            <a:off x="502920" y="1828800"/>
            <a:ext cx="5492344" cy="91440"/>
          </a:xfrm>
          <a:prstGeom prst="roundRect">
            <a:avLst>
              <a:gd name="adj" fmla="val 80000"/>
            </a:avLst>
          </a:prstGeom>
          <a:solidFill>
            <a:srgbClr val="0284C7"/>
          </a:solidFill>
          <a:ln/>
        </p:spPr>
      </p:sp>
      <p:sp>
        <p:nvSpPr>
          <p:cNvPr id="6" name="Shape 4"/>
          <p:cNvSpPr/>
          <p:nvPr/>
        </p:nvSpPr>
        <p:spPr>
          <a:xfrm>
            <a:off x="502920" y="1874520"/>
            <a:ext cx="5492344" cy="45720"/>
          </a:xfrm>
          <a:prstGeom prst="rect">
            <a:avLst/>
          </a:prstGeom>
          <a:solidFill>
            <a:srgbClr val="0284C7"/>
          </a:solidFill>
          <a:ln/>
        </p:spPr>
      </p:sp>
      <p:sp>
        <p:nvSpPr>
          <p:cNvPr id="7" name="Shape 5"/>
          <p:cNvSpPr/>
          <p:nvPr/>
        </p:nvSpPr>
        <p:spPr>
          <a:xfrm>
            <a:off x="731520" y="2103120"/>
            <a:ext cx="457200" cy="457200"/>
          </a:xfrm>
          <a:prstGeom prst="ellipse">
            <a:avLst/>
          </a:prstGeom>
          <a:solidFill>
            <a:srgbClr val="0284C7"/>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a:t>
            </a:r>
            <a:endParaRPr lang="en-US" sz="1400" dirty="0"/>
          </a:p>
        </p:txBody>
      </p:sp>
      <p:sp>
        <p:nvSpPr>
          <p:cNvPr id="9" name="Text 7"/>
          <p:cNvSpPr/>
          <p:nvPr/>
        </p:nvSpPr>
        <p:spPr>
          <a:xfrm>
            <a:off x="1371600" y="2103120"/>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Server-Sent Events</a:t>
            </a:r>
            <a:endParaRPr lang="en-US" sz="1600" dirty="0"/>
          </a:p>
        </p:txBody>
      </p:sp>
      <p:sp>
        <p:nvSpPr>
          <p:cNvPr id="10" name="Text 8"/>
          <p:cNvSpPr/>
          <p:nvPr/>
        </p:nvSpPr>
        <p:spPr>
          <a:xfrm>
            <a:off x="731520" y="2743200"/>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Long-lived HTTP response; server pushes data events one by one. Auto-reconnect, proxy-friendly. Every token-streaming chat UI — OpenAI, Anthropic, HF — runs on SSE under the hood. Server-to-client only.</a:t>
            </a:r>
            <a:endParaRPr lang="en-US" sz="1300" dirty="0"/>
          </a:p>
        </p:txBody>
      </p:sp>
      <p:sp>
        <p:nvSpPr>
          <p:cNvPr id="11" name="Text 9"/>
          <p:cNvSpPr/>
          <p:nvPr/>
        </p:nvSpPr>
        <p:spPr>
          <a:xfrm>
            <a:off x="731520" y="3328416"/>
            <a:ext cx="5035144" cy="274320"/>
          </a:xfrm>
          <a:prstGeom prst="rect">
            <a:avLst/>
          </a:prstGeom>
          <a:noFill/>
          <a:ln/>
        </p:spPr>
        <p:txBody>
          <a:bodyPr wrap="square" rtlCol="0" anchor="b"/>
          <a:lstStyle/>
          <a:p>
            <a:pPr indent="0" marL="0">
              <a:buNone/>
            </a:pPr>
            <a:r>
              <a:rPr lang="en-US" sz="1100" b="1" dirty="0">
                <a:solidFill>
                  <a:srgbClr val="0284C7"/>
                </a:solidFill>
                <a:latin typeface="Calibri" pitchFamily="34" charset="0"/>
                <a:ea typeface="Calibri" pitchFamily="34" charset="-122"/>
                <a:cs typeface="Calibri" pitchFamily="34" charset="-120"/>
              </a:rPr>
              <a:t>The wire under every streaming chat UI.</a:t>
            </a:r>
            <a:endParaRPr lang="en-US" sz="1100" dirty="0"/>
          </a:p>
        </p:txBody>
      </p:sp>
      <p:sp>
        <p:nvSpPr>
          <p:cNvPr id="12" name="Shape 10"/>
          <p:cNvSpPr/>
          <p:nvPr/>
        </p:nvSpPr>
        <p:spPr>
          <a:xfrm>
            <a:off x="6196432" y="1828800"/>
            <a:ext cx="5492344" cy="1865376"/>
          </a:xfrm>
          <a:prstGeom prst="roundRect">
            <a:avLst>
              <a:gd name="adj" fmla="val 3922"/>
            </a:avLst>
          </a:prstGeom>
          <a:solidFill>
            <a:srgbClr val="CCFBF1"/>
          </a:solidFill>
          <a:ln w="9525">
            <a:solidFill>
              <a:srgbClr val="E2E8F0"/>
            </a:solidFill>
            <a:prstDash val="solid"/>
          </a:ln>
        </p:spPr>
      </p:sp>
      <p:sp>
        <p:nvSpPr>
          <p:cNvPr id="13" name="Shape 11"/>
          <p:cNvSpPr/>
          <p:nvPr/>
        </p:nvSpPr>
        <p:spPr>
          <a:xfrm>
            <a:off x="6196432" y="1828800"/>
            <a:ext cx="5492344" cy="91440"/>
          </a:xfrm>
          <a:prstGeom prst="roundRect">
            <a:avLst>
              <a:gd name="adj" fmla="val 80000"/>
            </a:avLst>
          </a:prstGeom>
          <a:solidFill>
            <a:srgbClr val="0D9488"/>
          </a:solidFill>
          <a:ln/>
        </p:spPr>
      </p:sp>
      <p:sp>
        <p:nvSpPr>
          <p:cNvPr id="14" name="Shape 12"/>
          <p:cNvSpPr/>
          <p:nvPr/>
        </p:nvSpPr>
        <p:spPr>
          <a:xfrm>
            <a:off x="6196432" y="1874520"/>
            <a:ext cx="5492344" cy="45720"/>
          </a:xfrm>
          <a:prstGeom prst="rect">
            <a:avLst/>
          </a:prstGeom>
          <a:solidFill>
            <a:srgbClr val="0D9488"/>
          </a:solidFill>
          <a:ln/>
        </p:spPr>
      </p:sp>
      <p:sp>
        <p:nvSpPr>
          <p:cNvPr id="15" name="Shape 13"/>
          <p:cNvSpPr/>
          <p:nvPr/>
        </p:nvSpPr>
        <p:spPr>
          <a:xfrm>
            <a:off x="6425032" y="2103120"/>
            <a:ext cx="457200" cy="457200"/>
          </a:xfrm>
          <a:prstGeom prst="ellipse">
            <a:avLst/>
          </a:prstGeom>
          <a:solidFill>
            <a:srgbClr val="0D9488"/>
          </a:solidFill>
          <a:ln/>
        </p:spPr>
      </p:sp>
      <p:sp>
        <p:nvSpPr>
          <p:cNvPr id="16" name="Text 14"/>
          <p:cNvSpPr/>
          <p:nvPr/>
        </p:nvSpPr>
        <p:spPr>
          <a:xfrm>
            <a:off x="6425032"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WS</a:t>
            </a:r>
            <a:endParaRPr lang="en-US" sz="1400" dirty="0"/>
          </a:p>
        </p:txBody>
      </p:sp>
      <p:sp>
        <p:nvSpPr>
          <p:cNvPr id="17" name="Text 15"/>
          <p:cNvSpPr/>
          <p:nvPr/>
        </p:nvSpPr>
        <p:spPr>
          <a:xfrm>
            <a:off x="7065112" y="2103120"/>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WebSocket</a:t>
            </a:r>
            <a:endParaRPr lang="en-US" sz="1600" dirty="0"/>
          </a:p>
        </p:txBody>
      </p:sp>
      <p:sp>
        <p:nvSpPr>
          <p:cNvPr id="18" name="Text 16"/>
          <p:cNvSpPr/>
          <p:nvPr/>
        </p:nvSpPr>
        <p:spPr>
          <a:xfrm>
            <a:off x="6425032" y="2743200"/>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Full-duplex persistent connection started via HTTP Upgrade. Both sides send frames freely. Low per-message overhead. OpenAI Realtime API, voice agents, and live multimodal sessions all require WebSocket.</a:t>
            </a:r>
            <a:endParaRPr lang="en-US" sz="1300" dirty="0"/>
          </a:p>
        </p:txBody>
      </p:sp>
      <p:sp>
        <p:nvSpPr>
          <p:cNvPr id="19" name="Text 17"/>
          <p:cNvSpPr/>
          <p:nvPr/>
        </p:nvSpPr>
        <p:spPr>
          <a:xfrm>
            <a:off x="6425032" y="3328416"/>
            <a:ext cx="5035144"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Required for any realtime bidirectional session.</a:t>
            </a:r>
            <a:endParaRPr lang="en-US" sz="1100" dirty="0"/>
          </a:p>
        </p:txBody>
      </p:sp>
      <p:sp>
        <p:nvSpPr>
          <p:cNvPr id="20" name="Shape 18"/>
          <p:cNvSpPr/>
          <p:nvPr/>
        </p:nvSpPr>
        <p:spPr>
          <a:xfrm>
            <a:off x="502920" y="3895344"/>
            <a:ext cx="5492344" cy="1865376"/>
          </a:xfrm>
          <a:prstGeom prst="roundRect">
            <a:avLst>
              <a:gd name="adj" fmla="val 3922"/>
            </a:avLst>
          </a:prstGeom>
          <a:solidFill>
            <a:srgbClr val="FEF3C7"/>
          </a:solidFill>
          <a:ln w="9525">
            <a:solidFill>
              <a:srgbClr val="E2E8F0"/>
            </a:solidFill>
            <a:prstDash val="solid"/>
          </a:ln>
        </p:spPr>
      </p:sp>
      <p:sp>
        <p:nvSpPr>
          <p:cNvPr id="21" name="Shape 19"/>
          <p:cNvSpPr/>
          <p:nvPr/>
        </p:nvSpPr>
        <p:spPr>
          <a:xfrm>
            <a:off x="502920" y="3895344"/>
            <a:ext cx="5492344" cy="91440"/>
          </a:xfrm>
          <a:prstGeom prst="roundRect">
            <a:avLst>
              <a:gd name="adj" fmla="val 80000"/>
            </a:avLst>
          </a:prstGeom>
          <a:solidFill>
            <a:srgbClr val="D97706"/>
          </a:solidFill>
          <a:ln/>
        </p:spPr>
      </p:sp>
      <p:sp>
        <p:nvSpPr>
          <p:cNvPr id="22" name="Shape 20"/>
          <p:cNvSpPr/>
          <p:nvPr/>
        </p:nvSpPr>
        <p:spPr>
          <a:xfrm>
            <a:off x="502920" y="3941064"/>
            <a:ext cx="5492344" cy="45720"/>
          </a:xfrm>
          <a:prstGeom prst="rect">
            <a:avLst/>
          </a:prstGeom>
          <a:solidFill>
            <a:srgbClr val="D97706"/>
          </a:solidFill>
          <a:ln/>
        </p:spPr>
      </p:sp>
      <p:sp>
        <p:nvSpPr>
          <p:cNvPr id="23" name="Shape 21"/>
          <p:cNvSpPr/>
          <p:nvPr/>
        </p:nvSpPr>
        <p:spPr>
          <a:xfrm>
            <a:off x="731520" y="4169664"/>
            <a:ext cx="457200" cy="457200"/>
          </a:xfrm>
          <a:prstGeom prst="ellipse">
            <a:avLst/>
          </a:prstGeom>
          <a:solidFill>
            <a:srgbClr val="D97706"/>
          </a:solidFill>
          <a:ln/>
        </p:spPr>
      </p:sp>
      <p:sp>
        <p:nvSpPr>
          <p:cNvPr id="24" name="Text 22"/>
          <p:cNvSpPr/>
          <p:nvPr/>
        </p:nvSpPr>
        <p:spPr>
          <a:xfrm>
            <a:off x="731520" y="4169664"/>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a:r>
            <a:endParaRPr lang="en-US" sz="1400" dirty="0"/>
          </a:p>
        </p:txBody>
      </p:sp>
      <p:sp>
        <p:nvSpPr>
          <p:cNvPr id="25" name="Text 23"/>
          <p:cNvSpPr/>
          <p:nvPr/>
        </p:nvSpPr>
        <p:spPr>
          <a:xfrm>
            <a:off x="1371600" y="4169664"/>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Webhooks</a:t>
            </a:r>
            <a:endParaRPr lang="en-US" sz="1600" dirty="0"/>
          </a:p>
        </p:txBody>
      </p:sp>
      <p:sp>
        <p:nvSpPr>
          <p:cNvPr id="26" name="Text 24"/>
          <p:cNvSpPr/>
          <p:nvPr/>
        </p:nvSpPr>
        <p:spPr>
          <a:xfrm>
            <a:off x="731520" y="4809744"/>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HTTP POST from server to a registered URL when an event fires. OpenAI batch API, fine-tune, and transcription jobs all signal completion this way.</a:t>
            </a:r>
            <a:endParaRPr lang="en-US" sz="1300" dirty="0"/>
          </a:p>
        </p:txBody>
      </p:sp>
      <p:sp>
        <p:nvSpPr>
          <p:cNvPr id="27" name="Text 25"/>
          <p:cNvSpPr/>
          <p:nvPr/>
        </p:nvSpPr>
        <p:spPr>
          <a:xfrm>
            <a:off x="731520" y="5394960"/>
            <a:ext cx="5035144" cy="274320"/>
          </a:xfrm>
          <a:prstGeom prst="rect">
            <a:avLst/>
          </a:prstGeom>
          <a:noFill/>
          <a:ln/>
        </p:spPr>
        <p:txBody>
          <a:bodyPr wrap="square" rtlCol="0" anchor="b"/>
          <a:lstStyle/>
          <a:p>
            <a:pPr indent="0" marL="0">
              <a:buNone/>
            </a:pPr>
            <a:r>
              <a:rPr lang="en-US" sz="1100" b="1" dirty="0">
                <a:solidFill>
                  <a:srgbClr val="D97706"/>
                </a:solidFill>
                <a:latin typeface="Calibri" pitchFamily="34" charset="0"/>
                <a:ea typeface="Calibri" pitchFamily="34" charset="-122"/>
                <a:cs typeface="Calibri" pitchFamily="34" charset="-120"/>
              </a:rPr>
              <a:t>Right pattern for long-running job callbacks.</a:t>
            </a:r>
            <a:endParaRPr lang="en-US" sz="1100" dirty="0"/>
          </a:p>
        </p:txBody>
      </p:sp>
      <p:sp>
        <p:nvSpPr>
          <p:cNvPr id="28" name="Shape 26"/>
          <p:cNvSpPr/>
          <p:nvPr/>
        </p:nvSpPr>
        <p:spPr>
          <a:xfrm>
            <a:off x="6196432" y="3895344"/>
            <a:ext cx="5492344" cy="1865376"/>
          </a:xfrm>
          <a:prstGeom prst="roundRect">
            <a:avLst>
              <a:gd name="adj" fmla="val 3922"/>
            </a:avLst>
          </a:prstGeom>
          <a:solidFill>
            <a:srgbClr val="E0F2FE"/>
          </a:solidFill>
          <a:ln w="9525">
            <a:solidFill>
              <a:srgbClr val="E2E8F0"/>
            </a:solidFill>
            <a:prstDash val="solid"/>
          </a:ln>
        </p:spPr>
      </p:sp>
      <p:sp>
        <p:nvSpPr>
          <p:cNvPr id="29" name="Shape 27"/>
          <p:cNvSpPr/>
          <p:nvPr/>
        </p:nvSpPr>
        <p:spPr>
          <a:xfrm>
            <a:off x="6196432" y="3895344"/>
            <a:ext cx="5492344" cy="91440"/>
          </a:xfrm>
          <a:prstGeom prst="roundRect">
            <a:avLst>
              <a:gd name="adj" fmla="val 80000"/>
            </a:avLst>
          </a:prstGeom>
          <a:solidFill>
            <a:srgbClr val="0284C7"/>
          </a:solidFill>
          <a:ln/>
        </p:spPr>
      </p:sp>
      <p:sp>
        <p:nvSpPr>
          <p:cNvPr id="30" name="Shape 28"/>
          <p:cNvSpPr/>
          <p:nvPr/>
        </p:nvSpPr>
        <p:spPr>
          <a:xfrm>
            <a:off x="6196432" y="3941064"/>
            <a:ext cx="5492344" cy="45720"/>
          </a:xfrm>
          <a:prstGeom prst="rect">
            <a:avLst/>
          </a:prstGeom>
          <a:solidFill>
            <a:srgbClr val="0284C7"/>
          </a:solidFill>
          <a:ln/>
        </p:spPr>
      </p:sp>
      <p:sp>
        <p:nvSpPr>
          <p:cNvPr id="31" name="Shape 29"/>
          <p:cNvSpPr/>
          <p:nvPr/>
        </p:nvSpPr>
        <p:spPr>
          <a:xfrm>
            <a:off x="6425032" y="4169664"/>
            <a:ext cx="457200" cy="457200"/>
          </a:xfrm>
          <a:prstGeom prst="ellipse">
            <a:avLst/>
          </a:prstGeom>
          <a:solidFill>
            <a:srgbClr val="0284C7"/>
          </a:solidFill>
          <a:ln/>
        </p:spPr>
      </p:sp>
      <p:sp>
        <p:nvSpPr>
          <p:cNvPr id="32" name="Text 30"/>
          <p:cNvSpPr/>
          <p:nvPr/>
        </p:nvSpPr>
        <p:spPr>
          <a:xfrm>
            <a:off x="6425032" y="4169664"/>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a:t>
            </a:r>
            <a:endParaRPr lang="en-US" sz="1400" dirty="0"/>
          </a:p>
        </p:txBody>
      </p:sp>
      <p:sp>
        <p:nvSpPr>
          <p:cNvPr id="33" name="Text 31"/>
          <p:cNvSpPr/>
          <p:nvPr/>
        </p:nvSpPr>
        <p:spPr>
          <a:xfrm>
            <a:off x="7065112" y="4169664"/>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Broker / Queue</a:t>
            </a:r>
            <a:endParaRPr lang="en-US" sz="1600" dirty="0"/>
          </a:p>
        </p:txBody>
      </p:sp>
      <p:sp>
        <p:nvSpPr>
          <p:cNvPr id="34" name="Text 32"/>
          <p:cNvSpPr/>
          <p:nvPr/>
        </p:nvSpPr>
        <p:spPr>
          <a:xfrm>
            <a:off x="6425032" y="4809744"/>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Kafka, GCP Pub/Sub, RabbitMQ — producers and consumers decouple entirely. Fan-out is free; retries and dead-letter queues are operational primitives. Multi-agent task distribution lives here.</a:t>
            </a:r>
            <a:endParaRPr lang="en-US" sz="1300" dirty="0"/>
          </a:p>
        </p:txBody>
      </p:sp>
      <p:sp>
        <p:nvSpPr>
          <p:cNvPr id="35" name="Text 33"/>
          <p:cNvSpPr/>
          <p:nvPr/>
        </p:nvSpPr>
        <p:spPr>
          <a:xfrm>
            <a:off x="6425032" y="5394960"/>
            <a:ext cx="5035144" cy="274320"/>
          </a:xfrm>
          <a:prstGeom prst="rect">
            <a:avLst/>
          </a:prstGeom>
          <a:noFill/>
          <a:ln/>
        </p:spPr>
        <p:txBody>
          <a:bodyPr wrap="square" rtlCol="0" anchor="b"/>
          <a:lstStyle/>
          <a:p>
            <a:pPr indent="0" marL="0">
              <a:buNone/>
            </a:pPr>
            <a:r>
              <a:rPr lang="en-US" sz="1100" b="1" dirty="0">
                <a:solidFill>
                  <a:srgbClr val="0284C7"/>
                </a:solidFill>
                <a:latin typeface="Calibri" pitchFamily="34" charset="0"/>
                <a:ea typeface="Calibri" pitchFamily="34" charset="-122"/>
                <a:cs typeface="Calibri" pitchFamily="34" charset="-120"/>
              </a:rPr>
              <a:t>Decouple scale from timing; standard for agent fanout.</a:t>
            </a:r>
            <a:endParaRPr lang="en-US" sz="1100" dirty="0"/>
          </a:p>
        </p:txBody>
      </p:sp>
      <p:sp>
        <p:nvSpPr>
          <p:cNvPr id="36" name="Shape 34"/>
          <p:cNvSpPr/>
          <p:nvPr/>
        </p:nvSpPr>
        <p:spPr>
          <a:xfrm>
            <a:off x="502920" y="5852160"/>
            <a:ext cx="11185855" cy="365760"/>
          </a:xfrm>
          <a:prstGeom prst="roundRect">
            <a:avLst>
              <a:gd name="adj" fmla="val 20000"/>
            </a:avLst>
          </a:prstGeom>
          <a:solidFill>
            <a:srgbClr val="0F172A"/>
          </a:solidFill>
          <a:ln/>
        </p:spPr>
      </p:sp>
      <p:sp>
        <p:nvSpPr>
          <p:cNvPr id="37" name="Shape 35"/>
          <p:cNvSpPr/>
          <p:nvPr/>
        </p:nvSpPr>
        <p:spPr>
          <a:xfrm>
            <a:off x="667512" y="5943600"/>
            <a:ext cx="182880" cy="182880"/>
          </a:xfrm>
          <a:prstGeom prst="ellipse">
            <a:avLst/>
          </a:prstGeom>
          <a:solidFill>
            <a:srgbClr val="D97706"/>
          </a:solidFill>
          <a:ln/>
        </p:spPr>
      </p:sp>
      <p:sp>
        <p:nvSpPr>
          <p:cNvPr id="38" name="Text 36"/>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Streaming and async styles are where AI systems scale — and where most bugs hide.</a:t>
            </a:r>
            <a:endParaRPr lang="en-US" sz="1400" dirty="0"/>
          </a:p>
        </p:txBody>
      </p:sp>
      <p:sp>
        <p:nvSpPr>
          <p:cNvPr id="39" name="Text 37"/>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40" name="Text 38"/>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41" name="Text 39"/>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 / 18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Anatomy of a Streaming Chat Call</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REST out, SSE back — two styles composing into one user experience</a:t>
            </a:r>
            <a:endParaRPr lang="en-US" sz="1500" dirty="0"/>
          </a:p>
        </p:txBody>
      </p:sp>
      <p:sp>
        <p:nvSpPr>
          <p:cNvPr id="4" name="Shape 2"/>
          <p:cNvSpPr/>
          <p:nvPr/>
        </p:nvSpPr>
        <p:spPr>
          <a:xfrm>
            <a:off x="502920" y="1828800"/>
            <a:ext cx="5410048" cy="3931920"/>
          </a:xfrm>
          <a:prstGeom prst="roundRect">
            <a:avLst>
              <a:gd name="adj" fmla="val 1860"/>
            </a:avLst>
          </a:prstGeom>
          <a:solidFill>
            <a:srgbClr val="0F172A"/>
          </a:solidFill>
          <a:ln/>
        </p:spPr>
      </p:sp>
      <p:sp>
        <p:nvSpPr>
          <p:cNvPr id="5" name="Text 3"/>
          <p:cNvSpPr/>
          <p:nvPr/>
        </p:nvSpPr>
        <p:spPr>
          <a:xfrm>
            <a:off x="731520" y="2057400"/>
            <a:ext cx="4952848" cy="3474720"/>
          </a:xfrm>
          <a:prstGeom prst="rect">
            <a:avLst/>
          </a:prstGeom>
          <a:noFill/>
          <a:ln/>
        </p:spPr>
        <p:txBody>
          <a:bodyPr wrap="square" rtlCol="0" anchor="t"/>
          <a:lstStyle/>
          <a:p>
            <a:pPr indent="0" marL="0">
              <a:buNone/>
            </a:pPr>
            <a:r>
              <a:rPr lang="en-US" sz="1400" dirty="0">
                <a:solidFill>
                  <a:srgbClr val="E0F2FE"/>
                </a:solidFill>
                <a:latin typeface="Courier New" pitchFamily="34" charset="0"/>
                <a:ea typeface="Courier New" pitchFamily="34" charset="-122"/>
                <a:cs typeface="Courier New" pitchFamily="34" charset="-120"/>
              </a:rPr>
              <a:t>POST /v1/messages          (REST)</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Content-Type: application/json</a:t>
            </a:r>
            <a:endParaRPr lang="en-US" sz="1400" dirty="0"/>
          </a:p>
          <a:p>
            <a:pPr indent="0" marL="0">
              <a:buNone/>
            </a:pP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 "model": "claude-opus-4-7",</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  "stream": true,</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  "messages": [</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    {"role": "user",</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     "content": "Explain MCP"} ]</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a:t>
            </a:r>
            <a:endParaRPr lang="en-US" sz="1400" dirty="0"/>
          </a:p>
          <a:p>
            <a:pPr indent="0" marL="0">
              <a:buNone/>
            </a:pP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 response ---           (SSE)</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Content-Type: text/event-stream</a:t>
            </a:r>
            <a:endParaRPr lang="en-US" sz="1400" dirty="0"/>
          </a:p>
          <a:p>
            <a:pPr indent="0" marL="0">
              <a:buNone/>
            </a:pP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data: {"delta":{"text":"MCP "}}</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data: {"delta":{"text":"is a "}}</a:t>
            </a:r>
            <a:endParaRPr lang="en-US" sz="1400" dirty="0"/>
          </a:p>
          <a:p>
            <a:pPr indent="0" marL="0">
              <a:buNone/>
            </a:pPr>
            <a:r>
              <a:rPr lang="en-US" sz="1400" dirty="0">
                <a:solidFill>
                  <a:srgbClr val="E0F2FE"/>
                </a:solidFill>
                <a:latin typeface="Courier New" pitchFamily="34" charset="0"/>
                <a:ea typeface="Courier New" pitchFamily="34" charset="-122"/>
                <a:cs typeface="Courier New" pitchFamily="34" charset="-120"/>
              </a:rPr>
              <a:t>data: [DONE]</a:t>
            </a:r>
            <a:endParaRPr lang="en-US" sz="1400" dirty="0"/>
          </a:p>
        </p:txBody>
      </p:sp>
      <p:sp>
        <p:nvSpPr>
          <p:cNvPr id="6" name="Shape 4"/>
          <p:cNvSpPr/>
          <p:nvPr/>
        </p:nvSpPr>
        <p:spPr>
          <a:xfrm>
            <a:off x="6278728" y="1828800"/>
            <a:ext cx="73152" cy="3931920"/>
          </a:xfrm>
          <a:prstGeom prst="rect">
            <a:avLst/>
          </a:prstGeom>
          <a:solidFill>
            <a:srgbClr val="0284C7"/>
          </a:solidFill>
          <a:ln/>
        </p:spPr>
      </p:sp>
      <p:sp>
        <p:nvSpPr>
          <p:cNvPr id="7" name="Text 5"/>
          <p:cNvSpPr/>
          <p:nvPr/>
        </p:nvSpPr>
        <p:spPr>
          <a:xfrm>
            <a:off x="6507328" y="1828800"/>
            <a:ext cx="5181448"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REST for intent, SSE for delivery</a:t>
            </a:r>
            <a:endParaRPr lang="en-US" sz="1600" dirty="0"/>
          </a:p>
        </p:txBody>
      </p:sp>
      <p:sp>
        <p:nvSpPr>
          <p:cNvPr id="8" name="Text 6"/>
          <p:cNvSpPr/>
          <p:nvPr/>
        </p:nvSpPr>
        <p:spPr>
          <a:xfrm>
            <a:off x="6507328" y="2331720"/>
            <a:ext cx="5181448" cy="3429000"/>
          </a:xfrm>
          <a:prstGeom prst="rect">
            <a:avLst/>
          </a:prstGeom>
          <a:noFill/>
          <a:ln/>
        </p:spPr>
        <p:txBody>
          <a:bodyPr wrap="square" rtlCol="0" anchor="t"/>
          <a:lstStyle/>
          <a:p>
            <a:pPr indent="0" marL="0">
              <a:buNone/>
            </a:pPr>
            <a:r>
              <a:rPr lang="en-US" sz="1400" dirty="0">
                <a:solidFill>
                  <a:srgbClr val="334155"/>
                </a:solidFill>
                <a:latin typeface="Calibri" pitchFamily="34" charset="0"/>
                <a:ea typeface="Calibri" pitchFamily="34" charset="-122"/>
                <a:cs typeface="Calibri" pitchFamily="34" charset="-120"/>
              </a:rPr>
              <a:t>The request is REST — a synchronous HTTP POST with a JSON body and a bearer token. The response is SSE — a long-lived stream of data events, one per token group, closing with a DONE marker. Same TCP connection; two distinct styles; two different trade-off profiles. Recognising this composition is the key to building chat UIs that feel fast rather than laggy. Nothing about this is new — the styles have been in production for years.</a:t>
            </a:r>
            <a:endParaRPr lang="en-US" sz="1400" dirty="0"/>
          </a:p>
        </p:txBody>
      </p:sp>
      <p:sp>
        <p:nvSpPr>
          <p:cNvPr id="9" name="Shape 7"/>
          <p:cNvSpPr/>
          <p:nvPr/>
        </p:nvSpPr>
        <p:spPr>
          <a:xfrm>
            <a:off x="502920" y="5852160"/>
            <a:ext cx="11185855" cy="365760"/>
          </a:xfrm>
          <a:prstGeom prst="roundRect">
            <a:avLst>
              <a:gd name="adj" fmla="val 20000"/>
            </a:avLst>
          </a:prstGeom>
          <a:solidFill>
            <a:srgbClr val="0F172A"/>
          </a:solidFill>
          <a:ln/>
        </p:spPr>
      </p:sp>
      <p:sp>
        <p:nvSpPr>
          <p:cNvPr id="10" name="Shape 8"/>
          <p:cNvSpPr/>
          <p:nvPr/>
        </p:nvSpPr>
        <p:spPr>
          <a:xfrm>
            <a:off x="667512" y="5943600"/>
            <a:ext cx="182880" cy="182880"/>
          </a:xfrm>
          <a:prstGeom prst="ellipse">
            <a:avLst/>
          </a:prstGeom>
          <a:solidFill>
            <a:srgbClr val="D97706"/>
          </a:solidFill>
          <a:ln/>
        </p:spPr>
      </p:sp>
      <p:sp>
        <p:nvSpPr>
          <p:cNvPr id="11" name="Text 9"/>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One connection, two styles — the prototypical AI composition pattern.</a:t>
            </a:r>
            <a:endParaRPr lang="en-US" sz="1400" dirty="0"/>
          </a:p>
        </p:txBody>
      </p:sp>
      <p:sp>
        <p:nvSpPr>
          <p:cNvPr id="12" name="Text 10"/>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13" name="Text 11"/>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14" name="Text 12"/>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The M x N Integration Problem</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Why 70% of AI codebases became glue code before MCP</a:t>
            </a:r>
            <a:endParaRPr lang="en-US" sz="1500" dirty="0"/>
          </a:p>
        </p:txBody>
      </p:sp>
      <p:sp>
        <p:nvSpPr>
          <p:cNvPr id="4" name="Shape 2"/>
          <p:cNvSpPr/>
          <p:nvPr/>
        </p:nvSpPr>
        <p:spPr>
          <a:xfrm>
            <a:off x="502920" y="1828800"/>
            <a:ext cx="5410048" cy="73152"/>
          </a:xfrm>
          <a:prstGeom prst="rect">
            <a:avLst/>
          </a:prstGeom>
          <a:solidFill>
            <a:srgbClr val="D97706"/>
          </a:solidFill>
          <a:ln/>
        </p:spPr>
      </p:sp>
      <p:sp>
        <p:nvSpPr>
          <p:cNvPr id="5" name="Text 3"/>
          <p:cNvSpPr/>
          <p:nvPr/>
        </p:nvSpPr>
        <p:spPr>
          <a:xfrm>
            <a:off x="502920" y="2011680"/>
            <a:ext cx="5410048" cy="41148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The combinatorial trap</a:t>
            </a:r>
            <a:endParaRPr lang="en-US" sz="1600" dirty="0"/>
          </a:p>
        </p:txBody>
      </p:sp>
      <p:sp>
        <p:nvSpPr>
          <p:cNvPr id="6" name="Text 4"/>
          <p:cNvSpPr/>
          <p:nvPr/>
        </p:nvSpPr>
        <p:spPr>
          <a:xfrm>
            <a:off x="502920" y="2560320"/>
            <a:ext cx="5410048" cy="3200400"/>
          </a:xfrm>
          <a:prstGeom prst="rect">
            <a:avLst/>
          </a:prstGeom>
          <a:noFill/>
          <a:ln/>
        </p:spPr>
        <p:txBody>
          <a:bodyPr wrap="square"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3 AI tools x 3 data sources = 9 adapters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Add one tool — write 3 more adapters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Add one source — write 4 more adapters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Context lost at every schema translation hop</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70% of AI codebase is glue not product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Each adapter is its own auth and audit surface</a:t>
            </a:r>
            <a:endParaRPr lang="en-US" sz="1400" dirty="0"/>
          </a:p>
        </p:txBody>
      </p:sp>
      <p:sp>
        <p:nvSpPr>
          <p:cNvPr id="7" name="Shape 5"/>
          <p:cNvSpPr/>
          <p:nvPr/>
        </p:nvSpPr>
        <p:spPr>
          <a:xfrm>
            <a:off x="6278728" y="1828800"/>
            <a:ext cx="5410048" cy="73152"/>
          </a:xfrm>
          <a:prstGeom prst="rect">
            <a:avLst/>
          </a:prstGeom>
          <a:solidFill>
            <a:srgbClr val="0284C7"/>
          </a:solidFill>
          <a:ln/>
        </p:spPr>
      </p:sp>
      <p:sp>
        <p:nvSpPr>
          <p:cNvPr id="8" name="Text 6"/>
          <p:cNvSpPr/>
          <p:nvPr/>
        </p:nvSpPr>
        <p:spPr>
          <a:xfrm>
            <a:off x="6278728" y="2011680"/>
            <a:ext cx="5410048" cy="41148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Symptoms in production</a:t>
            </a:r>
            <a:endParaRPr lang="en-US" sz="1600" dirty="0"/>
          </a:p>
        </p:txBody>
      </p:sp>
      <p:sp>
        <p:nvSpPr>
          <p:cNvPr id="9" name="Text 7"/>
          <p:cNvSpPr/>
          <p:nvPr/>
        </p:nvSpPr>
        <p:spPr>
          <a:xfrm>
            <a:off x="6278728" y="2560320"/>
            <a:ext cx="5410048" cy="3200400"/>
          </a:xfrm>
          <a:prstGeom prst="rect">
            <a:avLst/>
          </a:prstGeom>
          <a:noFill/>
          <a:ln/>
        </p:spPr>
        <p:txBody>
          <a:bodyPr wrap="square"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Chatbot knows purchase history; recommender does not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Three tools, three summaries of the same record</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Fine-tune dataset schemas mismatched across sources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Auth policies duplicated per integration pair</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No unified audit log across the glue layer</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One broken adapter silently corrupts downstream agents</a:t>
            </a:r>
            <a:endParaRPr lang="en-US" sz="1400" dirty="0"/>
          </a:p>
        </p:txBody>
      </p:sp>
      <p:sp>
        <p:nvSpPr>
          <p:cNvPr id="10" name="Shape 8"/>
          <p:cNvSpPr/>
          <p:nvPr/>
        </p:nvSpPr>
        <p:spPr>
          <a:xfrm>
            <a:off x="502920" y="5852160"/>
            <a:ext cx="11185855" cy="365760"/>
          </a:xfrm>
          <a:prstGeom prst="roundRect">
            <a:avLst>
              <a:gd name="adj" fmla="val 20000"/>
            </a:avLst>
          </a:prstGeom>
          <a:solidFill>
            <a:srgbClr val="0F172A"/>
          </a:solidFill>
          <a:ln/>
        </p:spPr>
      </p:sp>
      <p:sp>
        <p:nvSpPr>
          <p:cNvPr id="11" name="Shape 9"/>
          <p:cNvSpPr/>
          <p:nvPr/>
        </p:nvSpPr>
        <p:spPr>
          <a:xfrm>
            <a:off x="667512" y="5943600"/>
            <a:ext cx="182880" cy="182880"/>
          </a:xfrm>
          <a:prstGeom prst="ellipse">
            <a:avLst/>
          </a:prstGeom>
          <a:solidFill>
            <a:srgbClr val="D97706"/>
          </a:solidFill>
          <a:ln/>
        </p:spPr>
      </p:sp>
      <p:sp>
        <p:nvSpPr>
          <p:cNvPr id="12" name="Text 10"/>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M x N is not a scaling problem — it is architectural debt that compounds with every new tool.</a:t>
            </a:r>
            <a:endParaRPr lang="en-US" sz="1400" dirty="0"/>
          </a:p>
        </p:txBody>
      </p:sp>
      <p:sp>
        <p:nvSpPr>
          <p:cNvPr id="13" name="Text 11"/>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14" name="Text 12"/>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15" name="Text 13"/>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What MCP Actually Is</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A standardised contract layered on existing plumbing — not a new API style</a:t>
            </a:r>
            <a:endParaRPr lang="en-US" sz="1500" dirty="0"/>
          </a:p>
        </p:txBody>
      </p:sp>
      <p:sp>
        <p:nvSpPr>
          <p:cNvPr id="4" name="Shape 2"/>
          <p:cNvSpPr/>
          <p:nvPr/>
        </p:nvSpPr>
        <p:spPr>
          <a:xfrm>
            <a:off x="685800" y="2286000"/>
            <a:ext cx="1280160" cy="1280160"/>
          </a:xfrm>
          <a:prstGeom prst="ellipse">
            <a:avLst/>
          </a:prstGeom>
          <a:solidFill>
            <a:srgbClr val="7C3AED"/>
          </a:solidFill>
          <a:ln/>
        </p:spPr>
      </p:sp>
      <p:sp>
        <p:nvSpPr>
          <p:cNvPr id="5" name="Text 3"/>
          <p:cNvSpPr/>
          <p:nvPr/>
        </p:nvSpPr>
        <p:spPr>
          <a:xfrm>
            <a:off x="685800" y="2286000"/>
            <a:ext cx="1280160" cy="1280160"/>
          </a:xfrm>
          <a:prstGeom prst="rect">
            <a:avLst/>
          </a:prstGeom>
          <a:noFill/>
          <a:ln/>
        </p:spPr>
        <p:txBody>
          <a:bodyPr wrap="square"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MCP</a:t>
            </a:r>
            <a:endParaRPr lang="en-US" sz="3600" dirty="0"/>
          </a:p>
        </p:txBody>
      </p:sp>
      <p:sp>
        <p:nvSpPr>
          <p:cNvPr id="6" name="Text 4"/>
          <p:cNvSpPr/>
          <p:nvPr/>
        </p:nvSpPr>
        <p:spPr>
          <a:xfrm>
            <a:off x="2423160" y="2103120"/>
            <a:ext cx="9265615" cy="3200400"/>
          </a:xfrm>
          <a:prstGeom prst="rect">
            <a:avLst/>
          </a:prstGeom>
          <a:noFill/>
          <a:ln/>
        </p:spPr>
        <p:txBody>
          <a:bodyPr wrap="square" rtlCol="0" anchor="t"/>
          <a:lstStyle/>
          <a:p>
            <a:pPr indent="0" marL="0">
              <a:buNone/>
            </a:pPr>
            <a:r>
              <a:rPr lang="en-US" sz="1800" dirty="0">
                <a:solidFill>
                  <a:srgbClr val="0F172A"/>
                </a:solidFill>
                <a:latin typeface="Calibri" pitchFamily="34" charset="0"/>
                <a:ea typeface="Calibri" pitchFamily="34" charset="-122"/>
                <a:cs typeface="Calibri" pitchFamily="34" charset="-120"/>
              </a:rPr>
              <a:t>The Model Context Protocol is an open standard introduced by Anthropic in November 2024, contributed to the Linux Foundation in December 2025, and adopted by Anthropic, OpenAI, and Google DeepMind. It defines how AI applications expose tools, resources, and prompts to LLMs — and how LLMs invoke them at runtime. The architectural shift is M+N: each tool implements MCP once, each data source exposes one MCP server, and any compliant client can use any server. Under the hood it speaks JSON-RPC 2.0 over stdio or streamable HTTP+SSE — familiar two-decade-old plumbing, with a new semantic layer on top.</a:t>
            </a:r>
            <a:endParaRPr lang="en-US" sz="1800" dirty="0"/>
          </a:p>
        </p:txBody>
      </p:sp>
      <p:sp>
        <p:nvSpPr>
          <p:cNvPr id="7" name="Shape 5"/>
          <p:cNvSpPr/>
          <p:nvPr/>
        </p:nvSpPr>
        <p:spPr>
          <a:xfrm>
            <a:off x="502920" y="5852160"/>
            <a:ext cx="11185855" cy="365760"/>
          </a:xfrm>
          <a:prstGeom prst="roundRect">
            <a:avLst>
              <a:gd name="adj" fmla="val 20000"/>
            </a:avLst>
          </a:prstGeom>
          <a:solidFill>
            <a:srgbClr val="0F172A"/>
          </a:solidFill>
          <a:ln/>
        </p:spPr>
      </p:sp>
      <p:sp>
        <p:nvSpPr>
          <p:cNvPr id="8" name="Shape 6"/>
          <p:cNvSpPr/>
          <p:nvPr/>
        </p:nvSpPr>
        <p:spPr>
          <a:xfrm>
            <a:off x="667512" y="5943600"/>
            <a:ext cx="182880" cy="182880"/>
          </a:xfrm>
          <a:prstGeom prst="ellipse">
            <a:avLst/>
          </a:prstGeom>
          <a:solidFill>
            <a:srgbClr val="D97706"/>
          </a:solidFill>
          <a:ln/>
        </p:spPr>
      </p:sp>
      <p:sp>
        <p:nvSpPr>
          <p:cNvPr id="9" name="Text 7"/>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MCP is the USB-C moment for AI tooling — one connector, any device.</a:t>
            </a:r>
            <a:endParaRPr lang="en-US" sz="1400" dirty="0"/>
          </a:p>
        </p:txBody>
      </p:sp>
      <p:sp>
        <p:nvSpPr>
          <p:cNvPr id="10" name="Text 8"/>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11" name="Text 9"/>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12" name="Text 10"/>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MCP Under the Hood — Four Layers</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Innovation lives only in the semantic layer; everything else is reused infrastructure</a:t>
            </a:r>
            <a:endParaRPr lang="en-US" sz="1500" dirty="0"/>
          </a:p>
        </p:txBody>
      </p:sp>
      <p:sp>
        <p:nvSpPr>
          <p:cNvPr id="4" name="Shape 2"/>
          <p:cNvSpPr/>
          <p:nvPr/>
        </p:nvSpPr>
        <p:spPr>
          <a:xfrm>
            <a:off x="502920" y="1828800"/>
            <a:ext cx="5492344" cy="1865376"/>
          </a:xfrm>
          <a:prstGeom prst="roundRect">
            <a:avLst>
              <a:gd name="adj" fmla="val 3922"/>
            </a:avLst>
          </a:prstGeom>
          <a:solidFill>
            <a:srgbClr val="F3E8FF"/>
          </a:solidFill>
          <a:ln w="9525">
            <a:solidFill>
              <a:srgbClr val="E2E8F0"/>
            </a:solidFill>
            <a:prstDash val="solid"/>
          </a:ln>
        </p:spPr>
      </p:sp>
      <p:sp>
        <p:nvSpPr>
          <p:cNvPr id="5" name="Shape 3"/>
          <p:cNvSpPr/>
          <p:nvPr/>
        </p:nvSpPr>
        <p:spPr>
          <a:xfrm>
            <a:off x="502920" y="1828800"/>
            <a:ext cx="5492344" cy="91440"/>
          </a:xfrm>
          <a:prstGeom prst="roundRect">
            <a:avLst>
              <a:gd name="adj" fmla="val 80000"/>
            </a:avLst>
          </a:prstGeom>
          <a:solidFill>
            <a:srgbClr val="7C3AED"/>
          </a:solidFill>
          <a:ln/>
        </p:spPr>
      </p:sp>
      <p:sp>
        <p:nvSpPr>
          <p:cNvPr id="6" name="Shape 4"/>
          <p:cNvSpPr/>
          <p:nvPr/>
        </p:nvSpPr>
        <p:spPr>
          <a:xfrm>
            <a:off x="502920" y="1874520"/>
            <a:ext cx="5492344" cy="45720"/>
          </a:xfrm>
          <a:prstGeom prst="rect">
            <a:avLst/>
          </a:prstGeom>
          <a:solidFill>
            <a:srgbClr val="7C3AED"/>
          </a:solidFill>
          <a:ln/>
        </p:spPr>
      </p:sp>
      <p:sp>
        <p:nvSpPr>
          <p:cNvPr id="7" name="Shape 5"/>
          <p:cNvSpPr/>
          <p:nvPr/>
        </p:nvSpPr>
        <p:spPr>
          <a:xfrm>
            <a:off x="731520" y="2103120"/>
            <a:ext cx="457200" cy="457200"/>
          </a:xfrm>
          <a:prstGeom prst="ellipse">
            <a:avLst/>
          </a:prstGeom>
          <a:solidFill>
            <a:srgbClr val="7C3AED"/>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L4</a:t>
            </a:r>
            <a:endParaRPr lang="en-US" sz="1400" dirty="0"/>
          </a:p>
        </p:txBody>
      </p:sp>
      <p:sp>
        <p:nvSpPr>
          <p:cNvPr id="9" name="Text 7"/>
          <p:cNvSpPr/>
          <p:nvPr/>
        </p:nvSpPr>
        <p:spPr>
          <a:xfrm>
            <a:off x="1371600" y="2103120"/>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Application — The Host</a:t>
            </a:r>
            <a:endParaRPr lang="en-US" sz="1600" dirty="0"/>
          </a:p>
        </p:txBody>
      </p:sp>
      <p:sp>
        <p:nvSpPr>
          <p:cNvPr id="10" name="Text 8"/>
          <p:cNvSpPr/>
          <p:nvPr/>
        </p:nvSpPr>
        <p:spPr>
          <a:xfrm>
            <a:off x="731520" y="2743200"/>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Your LLM-powered app — Claude Desktop, ChatGPT, Cursor, or a custom agent. It manages the LLM session, picks which MCP servers to connect, and owns the trust boundary.</a:t>
            </a:r>
            <a:endParaRPr lang="en-US" sz="1300" dirty="0"/>
          </a:p>
        </p:txBody>
      </p:sp>
      <p:sp>
        <p:nvSpPr>
          <p:cNvPr id="11" name="Text 9"/>
          <p:cNvSpPr/>
          <p:nvPr/>
        </p:nvSpPr>
        <p:spPr>
          <a:xfrm>
            <a:off x="731520" y="3328416"/>
            <a:ext cx="5035144" cy="274320"/>
          </a:xfrm>
          <a:prstGeom prst="rect">
            <a:avLst/>
          </a:prstGeom>
          <a:noFill/>
          <a:ln/>
        </p:spPr>
        <p:txBody>
          <a:bodyPr wrap="square" rtlCol="0" anchor="b"/>
          <a:lstStyle/>
          <a:p>
            <a:pPr indent="0" marL="0">
              <a:buNone/>
            </a:pPr>
            <a:r>
              <a:rPr lang="en-US" sz="1100" b="1" dirty="0">
                <a:solidFill>
                  <a:srgbClr val="7C3AED"/>
                </a:solidFill>
                <a:latin typeface="Calibri" pitchFamily="34" charset="0"/>
                <a:ea typeface="Calibri" pitchFamily="34" charset="-122"/>
                <a:cs typeface="Calibri" pitchFamily="34" charset="-120"/>
              </a:rPr>
              <a:t>Trust decisions live at the host, not the server.</a:t>
            </a:r>
            <a:endParaRPr lang="en-US" sz="1100" dirty="0"/>
          </a:p>
        </p:txBody>
      </p:sp>
      <p:sp>
        <p:nvSpPr>
          <p:cNvPr id="12" name="Shape 10"/>
          <p:cNvSpPr/>
          <p:nvPr/>
        </p:nvSpPr>
        <p:spPr>
          <a:xfrm>
            <a:off x="6196432" y="1828800"/>
            <a:ext cx="5492344" cy="1865376"/>
          </a:xfrm>
          <a:prstGeom prst="roundRect">
            <a:avLst>
              <a:gd name="adj" fmla="val 3922"/>
            </a:avLst>
          </a:prstGeom>
          <a:solidFill>
            <a:srgbClr val="F3E8FF"/>
          </a:solidFill>
          <a:ln w="9525">
            <a:solidFill>
              <a:srgbClr val="E2E8F0"/>
            </a:solidFill>
            <a:prstDash val="solid"/>
          </a:ln>
        </p:spPr>
      </p:sp>
      <p:sp>
        <p:nvSpPr>
          <p:cNvPr id="13" name="Shape 11"/>
          <p:cNvSpPr/>
          <p:nvPr/>
        </p:nvSpPr>
        <p:spPr>
          <a:xfrm>
            <a:off x="6196432" y="1828800"/>
            <a:ext cx="5492344" cy="91440"/>
          </a:xfrm>
          <a:prstGeom prst="roundRect">
            <a:avLst>
              <a:gd name="adj" fmla="val 80000"/>
            </a:avLst>
          </a:prstGeom>
          <a:solidFill>
            <a:srgbClr val="7C3AED"/>
          </a:solidFill>
          <a:ln/>
        </p:spPr>
      </p:sp>
      <p:sp>
        <p:nvSpPr>
          <p:cNvPr id="14" name="Shape 12"/>
          <p:cNvSpPr/>
          <p:nvPr/>
        </p:nvSpPr>
        <p:spPr>
          <a:xfrm>
            <a:off x="6196432" y="1874520"/>
            <a:ext cx="5492344" cy="45720"/>
          </a:xfrm>
          <a:prstGeom prst="rect">
            <a:avLst/>
          </a:prstGeom>
          <a:solidFill>
            <a:srgbClr val="7C3AED"/>
          </a:solidFill>
          <a:ln/>
        </p:spPr>
      </p:sp>
      <p:sp>
        <p:nvSpPr>
          <p:cNvPr id="15" name="Shape 13"/>
          <p:cNvSpPr/>
          <p:nvPr/>
        </p:nvSpPr>
        <p:spPr>
          <a:xfrm>
            <a:off x="6425032" y="2103120"/>
            <a:ext cx="457200" cy="457200"/>
          </a:xfrm>
          <a:prstGeom prst="ellipse">
            <a:avLst/>
          </a:prstGeom>
          <a:solidFill>
            <a:srgbClr val="7C3AED"/>
          </a:solidFill>
          <a:ln/>
        </p:spPr>
      </p:sp>
      <p:sp>
        <p:nvSpPr>
          <p:cNvPr id="16" name="Text 14"/>
          <p:cNvSpPr/>
          <p:nvPr/>
        </p:nvSpPr>
        <p:spPr>
          <a:xfrm>
            <a:off x="6425032"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L3</a:t>
            </a:r>
            <a:endParaRPr lang="en-US" sz="1400" dirty="0"/>
          </a:p>
        </p:txBody>
      </p:sp>
      <p:sp>
        <p:nvSpPr>
          <p:cNvPr id="17" name="Text 15"/>
          <p:cNvSpPr/>
          <p:nvPr/>
        </p:nvSpPr>
        <p:spPr>
          <a:xfrm>
            <a:off x="7065112" y="2103120"/>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MCP Primitives — The New Layer</a:t>
            </a:r>
            <a:endParaRPr lang="en-US" sz="1600" dirty="0"/>
          </a:p>
        </p:txBody>
      </p:sp>
      <p:sp>
        <p:nvSpPr>
          <p:cNvPr id="18" name="Text 16"/>
          <p:cNvSpPr/>
          <p:nvPr/>
        </p:nvSpPr>
        <p:spPr>
          <a:xfrm>
            <a:off x="6425032" y="2743200"/>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The only genuinely new layer in the stack. Server-side: tools, resources, prompts. Client-side: sampling, roots, elicitation. Everything below this layer is reused infrastructure.</a:t>
            </a:r>
            <a:endParaRPr lang="en-US" sz="1300" dirty="0"/>
          </a:p>
        </p:txBody>
      </p:sp>
      <p:sp>
        <p:nvSpPr>
          <p:cNvPr id="19" name="Text 17"/>
          <p:cNvSpPr/>
          <p:nvPr/>
        </p:nvSpPr>
        <p:spPr>
          <a:xfrm>
            <a:off x="6425032" y="3328416"/>
            <a:ext cx="5035144" cy="274320"/>
          </a:xfrm>
          <a:prstGeom prst="rect">
            <a:avLst/>
          </a:prstGeom>
          <a:noFill/>
          <a:ln/>
        </p:spPr>
        <p:txBody>
          <a:bodyPr wrap="square" rtlCol="0" anchor="b"/>
          <a:lstStyle/>
          <a:p>
            <a:pPr indent="0" marL="0">
              <a:buNone/>
            </a:pPr>
            <a:r>
              <a:rPr lang="en-US" sz="1100" b="1" dirty="0">
                <a:solidFill>
                  <a:srgbClr val="7C3AED"/>
                </a:solidFill>
                <a:latin typeface="Calibri" pitchFamily="34" charset="0"/>
                <a:ea typeface="Calibri" pitchFamily="34" charset="-122"/>
                <a:cs typeface="Calibri" pitchFamily="34" charset="-120"/>
              </a:rPr>
              <a:t>Tools are verbs; resources are nouns; prompts are workflows.</a:t>
            </a:r>
            <a:endParaRPr lang="en-US" sz="1100" dirty="0"/>
          </a:p>
        </p:txBody>
      </p:sp>
      <p:sp>
        <p:nvSpPr>
          <p:cNvPr id="20" name="Shape 18"/>
          <p:cNvSpPr/>
          <p:nvPr/>
        </p:nvSpPr>
        <p:spPr>
          <a:xfrm>
            <a:off x="502920" y="3895344"/>
            <a:ext cx="5492344" cy="1865376"/>
          </a:xfrm>
          <a:prstGeom prst="roundRect">
            <a:avLst>
              <a:gd name="adj" fmla="val 3922"/>
            </a:avLst>
          </a:prstGeom>
          <a:solidFill>
            <a:srgbClr val="CCFBF1"/>
          </a:solidFill>
          <a:ln w="9525">
            <a:solidFill>
              <a:srgbClr val="E2E8F0"/>
            </a:solidFill>
            <a:prstDash val="solid"/>
          </a:ln>
        </p:spPr>
      </p:sp>
      <p:sp>
        <p:nvSpPr>
          <p:cNvPr id="21" name="Shape 19"/>
          <p:cNvSpPr/>
          <p:nvPr/>
        </p:nvSpPr>
        <p:spPr>
          <a:xfrm>
            <a:off x="502920" y="3895344"/>
            <a:ext cx="5492344" cy="91440"/>
          </a:xfrm>
          <a:prstGeom prst="roundRect">
            <a:avLst>
              <a:gd name="adj" fmla="val 80000"/>
            </a:avLst>
          </a:prstGeom>
          <a:solidFill>
            <a:srgbClr val="0D9488"/>
          </a:solidFill>
          <a:ln/>
        </p:spPr>
      </p:sp>
      <p:sp>
        <p:nvSpPr>
          <p:cNvPr id="22" name="Shape 20"/>
          <p:cNvSpPr/>
          <p:nvPr/>
        </p:nvSpPr>
        <p:spPr>
          <a:xfrm>
            <a:off x="502920" y="3941064"/>
            <a:ext cx="5492344" cy="45720"/>
          </a:xfrm>
          <a:prstGeom prst="rect">
            <a:avLst/>
          </a:prstGeom>
          <a:solidFill>
            <a:srgbClr val="0D9488"/>
          </a:solidFill>
          <a:ln/>
        </p:spPr>
      </p:sp>
      <p:sp>
        <p:nvSpPr>
          <p:cNvPr id="23" name="Shape 21"/>
          <p:cNvSpPr/>
          <p:nvPr/>
        </p:nvSpPr>
        <p:spPr>
          <a:xfrm>
            <a:off x="731520" y="4169664"/>
            <a:ext cx="457200" cy="457200"/>
          </a:xfrm>
          <a:prstGeom prst="ellipse">
            <a:avLst/>
          </a:prstGeom>
          <a:solidFill>
            <a:srgbClr val="0D9488"/>
          </a:solidFill>
          <a:ln/>
        </p:spPr>
      </p:sp>
      <p:sp>
        <p:nvSpPr>
          <p:cNvPr id="24" name="Text 22"/>
          <p:cNvSpPr/>
          <p:nvPr/>
        </p:nvSpPr>
        <p:spPr>
          <a:xfrm>
            <a:off x="731520" y="4169664"/>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L2</a:t>
            </a:r>
            <a:endParaRPr lang="en-US" sz="1400" dirty="0"/>
          </a:p>
        </p:txBody>
      </p:sp>
      <p:sp>
        <p:nvSpPr>
          <p:cNvPr id="25" name="Text 23"/>
          <p:cNvSpPr/>
          <p:nvPr/>
        </p:nvSpPr>
        <p:spPr>
          <a:xfrm>
            <a:off x="1371600" y="4169664"/>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JSON-RPC 2.0 — The Envelope</a:t>
            </a:r>
            <a:endParaRPr lang="en-US" sz="1600" dirty="0"/>
          </a:p>
        </p:txBody>
      </p:sp>
      <p:sp>
        <p:nvSpPr>
          <p:cNvPr id="26" name="Text 24"/>
          <p:cNvSpPr/>
          <p:nvPr/>
        </p:nvSpPr>
        <p:spPr>
          <a:xfrm>
            <a:off x="731520" y="4809744"/>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Standard message format — methods, params, results, errors. In production since 2005. Stateless by default; sessions opt in via the Mcp-Session-Id header.</a:t>
            </a:r>
            <a:endParaRPr lang="en-US" sz="1300" dirty="0"/>
          </a:p>
        </p:txBody>
      </p:sp>
      <p:sp>
        <p:nvSpPr>
          <p:cNvPr id="27" name="Text 25"/>
          <p:cNvSpPr/>
          <p:nvPr/>
        </p:nvSpPr>
        <p:spPr>
          <a:xfrm>
            <a:off x="731520" y="5394960"/>
            <a:ext cx="5035144"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Twenty-year-old plumbing. Zero reinvention required.</a:t>
            </a:r>
            <a:endParaRPr lang="en-US" sz="1100" dirty="0"/>
          </a:p>
        </p:txBody>
      </p:sp>
      <p:sp>
        <p:nvSpPr>
          <p:cNvPr id="28" name="Shape 26"/>
          <p:cNvSpPr/>
          <p:nvPr/>
        </p:nvSpPr>
        <p:spPr>
          <a:xfrm>
            <a:off x="6196432" y="3895344"/>
            <a:ext cx="5492344" cy="1865376"/>
          </a:xfrm>
          <a:prstGeom prst="roundRect">
            <a:avLst>
              <a:gd name="adj" fmla="val 3922"/>
            </a:avLst>
          </a:prstGeom>
          <a:solidFill>
            <a:srgbClr val="E0F2FE"/>
          </a:solidFill>
          <a:ln w="9525">
            <a:solidFill>
              <a:srgbClr val="E2E8F0"/>
            </a:solidFill>
            <a:prstDash val="solid"/>
          </a:ln>
        </p:spPr>
      </p:sp>
      <p:sp>
        <p:nvSpPr>
          <p:cNvPr id="29" name="Shape 27"/>
          <p:cNvSpPr/>
          <p:nvPr/>
        </p:nvSpPr>
        <p:spPr>
          <a:xfrm>
            <a:off x="6196432" y="3895344"/>
            <a:ext cx="5492344" cy="91440"/>
          </a:xfrm>
          <a:prstGeom prst="roundRect">
            <a:avLst>
              <a:gd name="adj" fmla="val 80000"/>
            </a:avLst>
          </a:prstGeom>
          <a:solidFill>
            <a:srgbClr val="0284C7"/>
          </a:solidFill>
          <a:ln/>
        </p:spPr>
      </p:sp>
      <p:sp>
        <p:nvSpPr>
          <p:cNvPr id="30" name="Shape 28"/>
          <p:cNvSpPr/>
          <p:nvPr/>
        </p:nvSpPr>
        <p:spPr>
          <a:xfrm>
            <a:off x="6196432" y="3941064"/>
            <a:ext cx="5492344" cy="45720"/>
          </a:xfrm>
          <a:prstGeom prst="rect">
            <a:avLst/>
          </a:prstGeom>
          <a:solidFill>
            <a:srgbClr val="0284C7"/>
          </a:solidFill>
          <a:ln/>
        </p:spPr>
      </p:sp>
      <p:sp>
        <p:nvSpPr>
          <p:cNvPr id="31" name="Shape 29"/>
          <p:cNvSpPr/>
          <p:nvPr/>
        </p:nvSpPr>
        <p:spPr>
          <a:xfrm>
            <a:off x="6425032" y="4169664"/>
            <a:ext cx="457200" cy="457200"/>
          </a:xfrm>
          <a:prstGeom prst="ellipse">
            <a:avLst/>
          </a:prstGeom>
          <a:solidFill>
            <a:srgbClr val="0284C7"/>
          </a:solidFill>
          <a:ln/>
        </p:spPr>
      </p:sp>
      <p:sp>
        <p:nvSpPr>
          <p:cNvPr id="32" name="Text 30"/>
          <p:cNvSpPr/>
          <p:nvPr/>
        </p:nvSpPr>
        <p:spPr>
          <a:xfrm>
            <a:off x="6425032" y="4169664"/>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L1</a:t>
            </a:r>
            <a:endParaRPr lang="en-US" sz="1400" dirty="0"/>
          </a:p>
        </p:txBody>
      </p:sp>
      <p:sp>
        <p:nvSpPr>
          <p:cNvPr id="33" name="Text 31"/>
          <p:cNvSpPr/>
          <p:nvPr/>
        </p:nvSpPr>
        <p:spPr>
          <a:xfrm>
            <a:off x="7065112" y="4169664"/>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Transport — Two Modes</a:t>
            </a:r>
            <a:endParaRPr lang="en-US" sz="1600" dirty="0"/>
          </a:p>
        </p:txBody>
      </p:sp>
      <p:sp>
        <p:nvSpPr>
          <p:cNvPr id="34" name="Text 32"/>
          <p:cNvSpPr/>
          <p:nvPr/>
        </p:nvSpPr>
        <p:spPr>
          <a:xfrm>
            <a:off x="6425032" y="4809744"/>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Stdio for local subprocess servers — the host launches the server and talks via stdin and stdout. Streamable HTTP+SSE for remote servers — an HTTPS endpoint secured with OAuth 2.1 and PKCE.</a:t>
            </a:r>
            <a:endParaRPr lang="en-US" sz="1300" dirty="0"/>
          </a:p>
        </p:txBody>
      </p:sp>
      <p:sp>
        <p:nvSpPr>
          <p:cNvPr id="35" name="Text 33"/>
          <p:cNvSpPr/>
          <p:nvPr/>
        </p:nvSpPr>
        <p:spPr>
          <a:xfrm>
            <a:off x="6425032" y="5394960"/>
            <a:ext cx="5035144" cy="274320"/>
          </a:xfrm>
          <a:prstGeom prst="rect">
            <a:avLst/>
          </a:prstGeom>
          <a:noFill/>
          <a:ln/>
        </p:spPr>
        <p:txBody>
          <a:bodyPr wrap="square" rtlCol="0" anchor="b"/>
          <a:lstStyle/>
          <a:p>
            <a:pPr indent="0" marL="0">
              <a:buNone/>
            </a:pPr>
            <a:r>
              <a:rPr lang="en-US" sz="1100" b="1" dirty="0">
                <a:solidFill>
                  <a:srgbClr val="0284C7"/>
                </a:solidFill>
                <a:latin typeface="Calibri" pitchFamily="34" charset="0"/>
                <a:ea typeface="Calibri" pitchFamily="34" charset="-122"/>
                <a:cs typeface="Calibri" pitchFamily="34" charset="-120"/>
              </a:rPr>
              <a:t>Local = stdio; remote = HTTP+SSE + OAuth 2.1.</a:t>
            </a:r>
            <a:endParaRPr lang="en-US" sz="1100" dirty="0"/>
          </a:p>
        </p:txBody>
      </p:sp>
      <p:sp>
        <p:nvSpPr>
          <p:cNvPr id="36" name="Shape 34"/>
          <p:cNvSpPr/>
          <p:nvPr/>
        </p:nvSpPr>
        <p:spPr>
          <a:xfrm>
            <a:off x="502920" y="5852160"/>
            <a:ext cx="11185855" cy="365760"/>
          </a:xfrm>
          <a:prstGeom prst="roundRect">
            <a:avLst>
              <a:gd name="adj" fmla="val 20000"/>
            </a:avLst>
          </a:prstGeom>
          <a:solidFill>
            <a:srgbClr val="0F172A"/>
          </a:solidFill>
          <a:ln/>
        </p:spPr>
      </p:sp>
      <p:sp>
        <p:nvSpPr>
          <p:cNvPr id="37" name="Shape 35"/>
          <p:cNvSpPr/>
          <p:nvPr/>
        </p:nvSpPr>
        <p:spPr>
          <a:xfrm>
            <a:off x="667512" y="5943600"/>
            <a:ext cx="182880" cy="182880"/>
          </a:xfrm>
          <a:prstGeom prst="ellipse">
            <a:avLst/>
          </a:prstGeom>
          <a:solidFill>
            <a:srgbClr val="D97706"/>
          </a:solidFill>
          <a:ln/>
        </p:spPr>
      </p:sp>
      <p:sp>
        <p:nvSpPr>
          <p:cNvPr id="38" name="Text 36"/>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Strip the primitives layer and what remains is infrastructure every backend engineer already runs.</a:t>
            </a:r>
            <a:endParaRPr lang="en-US" sz="1400" dirty="0"/>
          </a:p>
        </p:txBody>
      </p:sp>
      <p:sp>
        <p:nvSpPr>
          <p:cNvPr id="39" name="Text 37"/>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40" name="Text 38"/>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41" name="Text 39"/>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MCP Primitives — What Servers Expose</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Three server-side primitives the LLM discovers and invokes at runtime</a:t>
            </a:r>
            <a:endParaRPr lang="en-US" sz="1500" dirty="0"/>
          </a:p>
        </p:txBody>
      </p:sp>
      <p:sp>
        <p:nvSpPr>
          <p:cNvPr id="4" name="Shape 2"/>
          <p:cNvSpPr/>
          <p:nvPr/>
        </p:nvSpPr>
        <p:spPr>
          <a:xfrm>
            <a:off x="502920" y="1828800"/>
            <a:ext cx="3594506" cy="3931920"/>
          </a:xfrm>
          <a:prstGeom prst="roundRect">
            <a:avLst>
              <a:gd name="adj" fmla="val 2035"/>
            </a:avLst>
          </a:prstGeom>
          <a:solidFill>
            <a:srgbClr val="F3E8FF"/>
          </a:solidFill>
          <a:ln w="9525">
            <a:solidFill>
              <a:srgbClr val="E2E8F0"/>
            </a:solidFill>
            <a:prstDash val="solid"/>
          </a:ln>
        </p:spPr>
      </p:sp>
      <p:sp>
        <p:nvSpPr>
          <p:cNvPr id="5" name="Shape 3"/>
          <p:cNvSpPr/>
          <p:nvPr/>
        </p:nvSpPr>
        <p:spPr>
          <a:xfrm>
            <a:off x="502920" y="1828800"/>
            <a:ext cx="3594506" cy="91440"/>
          </a:xfrm>
          <a:prstGeom prst="roundRect">
            <a:avLst>
              <a:gd name="adj" fmla="val 80000"/>
            </a:avLst>
          </a:prstGeom>
          <a:solidFill>
            <a:srgbClr val="7C3AED"/>
          </a:solidFill>
          <a:ln/>
        </p:spPr>
      </p:sp>
      <p:sp>
        <p:nvSpPr>
          <p:cNvPr id="6" name="Shape 4"/>
          <p:cNvSpPr/>
          <p:nvPr/>
        </p:nvSpPr>
        <p:spPr>
          <a:xfrm>
            <a:off x="502920" y="1874520"/>
            <a:ext cx="3594506" cy="45720"/>
          </a:xfrm>
          <a:prstGeom prst="rect">
            <a:avLst/>
          </a:prstGeom>
          <a:solidFill>
            <a:srgbClr val="7C3AED"/>
          </a:solidFill>
          <a:ln/>
        </p:spPr>
      </p:sp>
      <p:sp>
        <p:nvSpPr>
          <p:cNvPr id="7" name="Shape 5"/>
          <p:cNvSpPr/>
          <p:nvPr/>
        </p:nvSpPr>
        <p:spPr>
          <a:xfrm>
            <a:off x="731520" y="2103120"/>
            <a:ext cx="457200" cy="457200"/>
          </a:xfrm>
          <a:prstGeom prst="ellipse">
            <a:avLst/>
          </a:prstGeom>
          <a:solidFill>
            <a:srgbClr val="7C3AED"/>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TL</a:t>
            </a:r>
            <a:endParaRPr lang="en-US" sz="1400" dirty="0"/>
          </a:p>
        </p:txBody>
      </p:sp>
      <p:sp>
        <p:nvSpPr>
          <p:cNvPr id="9" name="Text 7"/>
          <p:cNvSpPr/>
          <p:nvPr/>
        </p:nvSpPr>
        <p:spPr>
          <a:xfrm>
            <a:off x="1371600"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Tools — Verbs</a:t>
            </a:r>
            <a:endParaRPr lang="en-US" sz="1600" dirty="0"/>
          </a:p>
        </p:txBody>
      </p:sp>
      <p:sp>
        <p:nvSpPr>
          <p:cNvPr id="10" name="Text 8"/>
          <p:cNvSpPr/>
          <p:nvPr/>
        </p:nvSpPr>
        <p:spPr>
          <a:xfrm>
            <a:off x="731520"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Callable functions with a name, description, and JSON Schema input. The LLM reads descriptions at runtime, picks a tool, and invokes it. Accuracy drops sharply above roughly ten tools per server — narrow names beat broad ones.</a:t>
            </a:r>
            <a:endParaRPr lang="en-US" sz="1300" dirty="0"/>
          </a:p>
        </p:txBody>
      </p:sp>
      <p:sp>
        <p:nvSpPr>
          <p:cNvPr id="11" name="Text 9"/>
          <p:cNvSpPr/>
          <p:nvPr/>
        </p:nvSpPr>
        <p:spPr>
          <a:xfrm>
            <a:off x="731520" y="5394960"/>
            <a:ext cx="3137306" cy="274320"/>
          </a:xfrm>
          <a:prstGeom prst="rect">
            <a:avLst/>
          </a:prstGeom>
          <a:noFill/>
          <a:ln/>
        </p:spPr>
        <p:txBody>
          <a:bodyPr wrap="square" rtlCol="0" anchor="b"/>
          <a:lstStyle/>
          <a:p>
            <a:pPr indent="0" marL="0">
              <a:buNone/>
            </a:pPr>
            <a:r>
              <a:rPr lang="en-US" sz="1100" b="1" dirty="0">
                <a:solidFill>
                  <a:srgbClr val="7C3AED"/>
                </a:solidFill>
                <a:latin typeface="Calibri" pitchFamily="34" charset="0"/>
                <a:ea typeface="Calibri" pitchFamily="34" charset="-122"/>
                <a:cs typeface="Calibri" pitchFamily="34" charset="-120"/>
              </a:rPr>
              <a:t>Precision naming is the highest-leverage MCP skill.</a:t>
            </a:r>
            <a:endParaRPr lang="en-US" sz="1100" dirty="0"/>
          </a:p>
        </p:txBody>
      </p:sp>
      <p:sp>
        <p:nvSpPr>
          <p:cNvPr id="12" name="Shape 10"/>
          <p:cNvSpPr/>
          <p:nvPr/>
        </p:nvSpPr>
        <p:spPr>
          <a:xfrm>
            <a:off x="4298594" y="1828800"/>
            <a:ext cx="3594506" cy="3931920"/>
          </a:xfrm>
          <a:prstGeom prst="roundRect">
            <a:avLst>
              <a:gd name="adj" fmla="val 2035"/>
            </a:avLst>
          </a:prstGeom>
          <a:solidFill>
            <a:srgbClr val="F3E8FF"/>
          </a:solidFill>
          <a:ln w="9525">
            <a:solidFill>
              <a:srgbClr val="E2E8F0"/>
            </a:solidFill>
            <a:prstDash val="solid"/>
          </a:ln>
        </p:spPr>
      </p:sp>
      <p:sp>
        <p:nvSpPr>
          <p:cNvPr id="13" name="Shape 11"/>
          <p:cNvSpPr/>
          <p:nvPr/>
        </p:nvSpPr>
        <p:spPr>
          <a:xfrm>
            <a:off x="4298594" y="1828800"/>
            <a:ext cx="3594506" cy="91440"/>
          </a:xfrm>
          <a:prstGeom prst="roundRect">
            <a:avLst>
              <a:gd name="adj" fmla="val 80000"/>
            </a:avLst>
          </a:prstGeom>
          <a:solidFill>
            <a:srgbClr val="7C3AED"/>
          </a:solidFill>
          <a:ln/>
        </p:spPr>
      </p:sp>
      <p:sp>
        <p:nvSpPr>
          <p:cNvPr id="14" name="Shape 12"/>
          <p:cNvSpPr/>
          <p:nvPr/>
        </p:nvSpPr>
        <p:spPr>
          <a:xfrm>
            <a:off x="4298594" y="1874520"/>
            <a:ext cx="3594506" cy="45720"/>
          </a:xfrm>
          <a:prstGeom prst="rect">
            <a:avLst/>
          </a:prstGeom>
          <a:solidFill>
            <a:srgbClr val="7C3AED"/>
          </a:solidFill>
          <a:ln/>
        </p:spPr>
      </p:sp>
      <p:sp>
        <p:nvSpPr>
          <p:cNvPr id="15" name="Shape 13"/>
          <p:cNvSpPr/>
          <p:nvPr/>
        </p:nvSpPr>
        <p:spPr>
          <a:xfrm>
            <a:off x="4527194" y="2103120"/>
            <a:ext cx="457200" cy="457200"/>
          </a:xfrm>
          <a:prstGeom prst="ellipse">
            <a:avLst/>
          </a:prstGeom>
          <a:solidFill>
            <a:srgbClr val="7C3AED"/>
          </a:solidFill>
          <a:ln/>
        </p:spPr>
      </p:sp>
      <p:sp>
        <p:nvSpPr>
          <p:cNvPr id="16" name="Text 14"/>
          <p:cNvSpPr/>
          <p:nvPr/>
        </p:nvSpPr>
        <p:spPr>
          <a:xfrm>
            <a:off x="4527194"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RS</a:t>
            </a:r>
            <a:endParaRPr lang="en-US" sz="1400" dirty="0"/>
          </a:p>
        </p:txBody>
      </p:sp>
      <p:sp>
        <p:nvSpPr>
          <p:cNvPr id="17" name="Text 15"/>
          <p:cNvSpPr/>
          <p:nvPr/>
        </p:nvSpPr>
        <p:spPr>
          <a:xfrm>
            <a:off x="5167274"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Resources — Nouns</a:t>
            </a:r>
            <a:endParaRPr lang="en-US" sz="1600" dirty="0"/>
          </a:p>
        </p:txBody>
      </p:sp>
      <p:sp>
        <p:nvSpPr>
          <p:cNvPr id="18" name="Text 16"/>
          <p:cNvSpPr/>
          <p:nvPr/>
        </p:nvSpPr>
        <p:spPr>
          <a:xfrm>
            <a:off x="4527194"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Readable context identified by URI — a file, a database row, an API response. Read-only from the model's perspective. Subscribable, so the host is notified when content changes.</a:t>
            </a:r>
            <a:endParaRPr lang="en-US" sz="1300" dirty="0"/>
          </a:p>
        </p:txBody>
      </p:sp>
      <p:sp>
        <p:nvSpPr>
          <p:cNvPr id="19" name="Text 17"/>
          <p:cNvSpPr/>
          <p:nvPr/>
        </p:nvSpPr>
        <p:spPr>
          <a:xfrm>
            <a:off x="4527194" y="5394960"/>
            <a:ext cx="3137306" cy="274320"/>
          </a:xfrm>
          <a:prstGeom prst="rect">
            <a:avLst/>
          </a:prstGeom>
          <a:noFill/>
          <a:ln/>
        </p:spPr>
        <p:txBody>
          <a:bodyPr wrap="square" rtlCol="0" anchor="b"/>
          <a:lstStyle/>
          <a:p>
            <a:pPr indent="0" marL="0">
              <a:buNone/>
            </a:pPr>
            <a:r>
              <a:rPr lang="en-US" sz="1100" b="1" dirty="0">
                <a:solidFill>
                  <a:srgbClr val="7C3AED"/>
                </a:solidFill>
                <a:latin typeface="Calibri" pitchFamily="34" charset="0"/>
                <a:ea typeface="Calibri" pitchFamily="34" charset="-122"/>
                <a:cs typeface="Calibri" pitchFamily="34" charset="-120"/>
              </a:rPr>
              <a:t>Resources are what the LLM reads; tools are what it does.</a:t>
            </a:r>
            <a:endParaRPr lang="en-US" sz="1100" dirty="0"/>
          </a:p>
        </p:txBody>
      </p:sp>
      <p:sp>
        <p:nvSpPr>
          <p:cNvPr id="20" name="Shape 18"/>
          <p:cNvSpPr/>
          <p:nvPr/>
        </p:nvSpPr>
        <p:spPr>
          <a:xfrm>
            <a:off x="8094269" y="1828800"/>
            <a:ext cx="3594506" cy="3931920"/>
          </a:xfrm>
          <a:prstGeom prst="roundRect">
            <a:avLst>
              <a:gd name="adj" fmla="val 2035"/>
            </a:avLst>
          </a:prstGeom>
          <a:solidFill>
            <a:srgbClr val="F3E8FF"/>
          </a:solidFill>
          <a:ln w="9525">
            <a:solidFill>
              <a:srgbClr val="E2E8F0"/>
            </a:solidFill>
            <a:prstDash val="solid"/>
          </a:ln>
        </p:spPr>
      </p:sp>
      <p:sp>
        <p:nvSpPr>
          <p:cNvPr id="21" name="Shape 19"/>
          <p:cNvSpPr/>
          <p:nvPr/>
        </p:nvSpPr>
        <p:spPr>
          <a:xfrm>
            <a:off x="8094269" y="1828800"/>
            <a:ext cx="3594506" cy="91440"/>
          </a:xfrm>
          <a:prstGeom prst="roundRect">
            <a:avLst>
              <a:gd name="adj" fmla="val 80000"/>
            </a:avLst>
          </a:prstGeom>
          <a:solidFill>
            <a:srgbClr val="7C3AED"/>
          </a:solidFill>
          <a:ln/>
        </p:spPr>
      </p:sp>
      <p:sp>
        <p:nvSpPr>
          <p:cNvPr id="22" name="Shape 20"/>
          <p:cNvSpPr/>
          <p:nvPr/>
        </p:nvSpPr>
        <p:spPr>
          <a:xfrm>
            <a:off x="8094269" y="1874520"/>
            <a:ext cx="3594506" cy="45720"/>
          </a:xfrm>
          <a:prstGeom prst="rect">
            <a:avLst/>
          </a:prstGeom>
          <a:solidFill>
            <a:srgbClr val="7C3AED"/>
          </a:solidFill>
          <a:ln/>
        </p:spPr>
      </p:sp>
      <p:sp>
        <p:nvSpPr>
          <p:cNvPr id="23" name="Shape 21"/>
          <p:cNvSpPr/>
          <p:nvPr/>
        </p:nvSpPr>
        <p:spPr>
          <a:xfrm>
            <a:off x="8322869" y="2103120"/>
            <a:ext cx="457200" cy="457200"/>
          </a:xfrm>
          <a:prstGeom prst="ellipse">
            <a:avLst/>
          </a:prstGeom>
          <a:solidFill>
            <a:srgbClr val="7C3AED"/>
          </a:solidFill>
          <a:ln/>
        </p:spPr>
      </p:sp>
      <p:sp>
        <p:nvSpPr>
          <p:cNvPr id="24" name="Text 22"/>
          <p:cNvSpPr/>
          <p:nvPr/>
        </p:nvSpPr>
        <p:spPr>
          <a:xfrm>
            <a:off x="8322869"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t>
            </a:r>
            <a:endParaRPr lang="en-US" sz="1400" dirty="0"/>
          </a:p>
        </p:txBody>
      </p:sp>
      <p:sp>
        <p:nvSpPr>
          <p:cNvPr id="25" name="Text 23"/>
          <p:cNvSpPr/>
          <p:nvPr/>
        </p:nvSpPr>
        <p:spPr>
          <a:xfrm>
            <a:off x="8962949"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Prompts — Workflows</a:t>
            </a:r>
            <a:endParaRPr lang="en-US" sz="1600" dirty="0"/>
          </a:p>
        </p:txBody>
      </p:sp>
      <p:sp>
        <p:nvSpPr>
          <p:cNvPr id="26" name="Text 24"/>
          <p:cNvSpPr/>
          <p:nvPr/>
        </p:nvSpPr>
        <p:spPr>
          <a:xfrm>
            <a:off x="8322869"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Reusable conversation templates the server publishes. Invoked by the user via slash command, not by the LLM. They return a fully-formed conversation seed — server-defined best practices.</a:t>
            </a:r>
            <a:endParaRPr lang="en-US" sz="1300" dirty="0"/>
          </a:p>
        </p:txBody>
      </p:sp>
      <p:sp>
        <p:nvSpPr>
          <p:cNvPr id="27" name="Text 25"/>
          <p:cNvSpPr/>
          <p:nvPr/>
        </p:nvSpPr>
        <p:spPr>
          <a:xfrm>
            <a:off x="8322869" y="5394960"/>
            <a:ext cx="3137306" cy="274320"/>
          </a:xfrm>
          <a:prstGeom prst="rect">
            <a:avLst/>
          </a:prstGeom>
          <a:noFill/>
          <a:ln/>
        </p:spPr>
        <p:txBody>
          <a:bodyPr wrap="square" rtlCol="0" anchor="b"/>
          <a:lstStyle/>
          <a:p>
            <a:pPr indent="0" marL="0">
              <a:buNone/>
            </a:pPr>
            <a:r>
              <a:rPr lang="en-US" sz="1100" b="1" dirty="0">
                <a:solidFill>
                  <a:srgbClr val="7C3AED"/>
                </a:solidFill>
                <a:latin typeface="Calibri" pitchFamily="34" charset="0"/>
                <a:ea typeface="Calibri" pitchFamily="34" charset="-122"/>
                <a:cs typeface="Calibri" pitchFamily="34" charset="-120"/>
              </a:rPr>
              <a:t>Prompts encode team knowledge as repeatable workflows.</a:t>
            </a:r>
            <a:endParaRPr lang="en-US" sz="1100" dirty="0"/>
          </a:p>
        </p:txBody>
      </p:sp>
      <p:sp>
        <p:nvSpPr>
          <p:cNvPr id="28" name="Shape 26"/>
          <p:cNvSpPr/>
          <p:nvPr/>
        </p:nvSpPr>
        <p:spPr>
          <a:xfrm>
            <a:off x="502920" y="5852160"/>
            <a:ext cx="11185855" cy="365760"/>
          </a:xfrm>
          <a:prstGeom prst="roundRect">
            <a:avLst>
              <a:gd name="adj" fmla="val 20000"/>
            </a:avLst>
          </a:prstGeom>
          <a:solidFill>
            <a:srgbClr val="0F172A"/>
          </a:solidFill>
          <a:ln/>
        </p:spPr>
      </p:sp>
      <p:sp>
        <p:nvSpPr>
          <p:cNvPr id="29" name="Shape 27"/>
          <p:cNvSpPr/>
          <p:nvPr/>
        </p:nvSpPr>
        <p:spPr>
          <a:xfrm>
            <a:off x="667512" y="5943600"/>
            <a:ext cx="182880" cy="182880"/>
          </a:xfrm>
          <a:prstGeom prst="ellipse">
            <a:avLst/>
          </a:prstGeom>
          <a:solidFill>
            <a:srgbClr val="D97706"/>
          </a:solidFill>
          <a:ln/>
        </p:spPr>
      </p:sp>
      <p:sp>
        <p:nvSpPr>
          <p:cNvPr id="30" name="Text 28"/>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In-band runtime discovery is what separates MCP from every hand-written OpenAPI spec before it.</a:t>
            </a:r>
            <a:endParaRPr lang="en-US" sz="1400" dirty="0"/>
          </a:p>
        </p:txBody>
      </p:sp>
      <p:sp>
        <p:nvSpPr>
          <p:cNvPr id="31" name="Text 29"/>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32" name="Text 30"/>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33" name="Text 31"/>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18</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Three Contracts — One Wire Family</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Traditional API vs MCP vs A2A — same plumbing, different audience</a:t>
            </a:r>
            <a:endParaRPr lang="en-US" sz="1500" dirty="0"/>
          </a:p>
        </p:txBody>
      </p:sp>
      <p:sp>
        <p:nvSpPr>
          <p:cNvPr id="4" name="Shape 2"/>
          <p:cNvSpPr/>
          <p:nvPr/>
        </p:nvSpPr>
        <p:spPr>
          <a:xfrm>
            <a:off x="502920" y="1828800"/>
            <a:ext cx="2796464" cy="411480"/>
          </a:xfrm>
          <a:prstGeom prst="rect">
            <a:avLst/>
          </a:prstGeom>
          <a:solidFill>
            <a:srgbClr val="0F172A"/>
          </a:solidFill>
          <a:ln w="6350">
            <a:solidFill>
              <a:srgbClr val="E2E8F0"/>
            </a:solidFill>
            <a:prstDash val="solid"/>
          </a:ln>
        </p:spPr>
      </p:sp>
      <p:sp>
        <p:nvSpPr>
          <p:cNvPr id="5" name="Text 3"/>
          <p:cNvSpPr/>
          <p:nvPr/>
        </p:nvSpPr>
        <p:spPr>
          <a:xfrm>
            <a:off x="640080"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Axis</a:t>
            </a:r>
            <a:endParaRPr lang="en-US" sz="1400" dirty="0"/>
          </a:p>
        </p:txBody>
      </p:sp>
      <p:sp>
        <p:nvSpPr>
          <p:cNvPr id="6" name="Shape 4"/>
          <p:cNvSpPr/>
          <p:nvPr/>
        </p:nvSpPr>
        <p:spPr>
          <a:xfrm>
            <a:off x="3299384" y="1828800"/>
            <a:ext cx="2796464" cy="411480"/>
          </a:xfrm>
          <a:prstGeom prst="rect">
            <a:avLst/>
          </a:prstGeom>
          <a:solidFill>
            <a:srgbClr val="0F172A"/>
          </a:solidFill>
          <a:ln w="6350">
            <a:solidFill>
              <a:srgbClr val="E2E8F0"/>
            </a:solidFill>
            <a:prstDash val="solid"/>
          </a:ln>
        </p:spPr>
      </p:sp>
      <p:sp>
        <p:nvSpPr>
          <p:cNvPr id="7" name="Text 5"/>
          <p:cNvSpPr/>
          <p:nvPr/>
        </p:nvSpPr>
        <p:spPr>
          <a:xfrm>
            <a:off x="3436544"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Traditional API</a:t>
            </a:r>
            <a:endParaRPr lang="en-US" sz="1400" dirty="0"/>
          </a:p>
        </p:txBody>
      </p:sp>
      <p:sp>
        <p:nvSpPr>
          <p:cNvPr id="8" name="Shape 6"/>
          <p:cNvSpPr/>
          <p:nvPr/>
        </p:nvSpPr>
        <p:spPr>
          <a:xfrm>
            <a:off x="6095848" y="1828800"/>
            <a:ext cx="2796464" cy="411480"/>
          </a:xfrm>
          <a:prstGeom prst="rect">
            <a:avLst/>
          </a:prstGeom>
          <a:solidFill>
            <a:srgbClr val="0F172A"/>
          </a:solidFill>
          <a:ln w="6350">
            <a:solidFill>
              <a:srgbClr val="E2E8F0"/>
            </a:solidFill>
            <a:prstDash val="solid"/>
          </a:ln>
        </p:spPr>
      </p:sp>
      <p:sp>
        <p:nvSpPr>
          <p:cNvPr id="9" name="Text 7"/>
          <p:cNvSpPr/>
          <p:nvPr/>
        </p:nvSpPr>
        <p:spPr>
          <a:xfrm>
            <a:off x="6233008"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MCP</a:t>
            </a:r>
            <a:endParaRPr lang="en-US" sz="1400" dirty="0"/>
          </a:p>
        </p:txBody>
      </p:sp>
      <p:sp>
        <p:nvSpPr>
          <p:cNvPr id="10" name="Shape 8"/>
          <p:cNvSpPr/>
          <p:nvPr/>
        </p:nvSpPr>
        <p:spPr>
          <a:xfrm>
            <a:off x="8892311" y="1828800"/>
            <a:ext cx="2796464" cy="411480"/>
          </a:xfrm>
          <a:prstGeom prst="rect">
            <a:avLst/>
          </a:prstGeom>
          <a:solidFill>
            <a:srgbClr val="0F172A"/>
          </a:solidFill>
          <a:ln w="6350">
            <a:solidFill>
              <a:srgbClr val="E2E8F0"/>
            </a:solidFill>
            <a:prstDash val="solid"/>
          </a:ln>
        </p:spPr>
      </p:sp>
      <p:sp>
        <p:nvSpPr>
          <p:cNvPr id="11" name="Text 9"/>
          <p:cNvSpPr/>
          <p:nvPr/>
        </p:nvSpPr>
        <p:spPr>
          <a:xfrm>
            <a:off x="9029471"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A2A</a:t>
            </a:r>
            <a:endParaRPr lang="en-US" sz="1400" dirty="0"/>
          </a:p>
        </p:txBody>
      </p:sp>
      <p:sp>
        <p:nvSpPr>
          <p:cNvPr id="12" name="Shape 10"/>
          <p:cNvSpPr/>
          <p:nvPr/>
        </p:nvSpPr>
        <p:spPr>
          <a:xfrm>
            <a:off x="502920" y="2240280"/>
            <a:ext cx="2796464" cy="880110"/>
          </a:xfrm>
          <a:prstGeom prst="rect">
            <a:avLst/>
          </a:prstGeom>
          <a:solidFill>
            <a:srgbClr val="FFFFFF"/>
          </a:solidFill>
          <a:ln w="6350">
            <a:solidFill>
              <a:srgbClr val="E2E8F0"/>
            </a:solidFill>
            <a:prstDash val="solid"/>
          </a:ln>
        </p:spPr>
      </p:sp>
      <p:sp>
        <p:nvSpPr>
          <p:cNvPr id="13" name="Text 11"/>
          <p:cNvSpPr/>
          <p:nvPr/>
        </p:nvSpPr>
        <p:spPr>
          <a:xfrm>
            <a:off x="640080" y="224028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Client type</a:t>
            </a:r>
            <a:endParaRPr lang="en-US" sz="1300" dirty="0"/>
          </a:p>
        </p:txBody>
      </p:sp>
      <p:sp>
        <p:nvSpPr>
          <p:cNvPr id="14" name="Shape 12"/>
          <p:cNvSpPr/>
          <p:nvPr/>
        </p:nvSpPr>
        <p:spPr>
          <a:xfrm>
            <a:off x="3299384" y="2240280"/>
            <a:ext cx="2796464" cy="880110"/>
          </a:xfrm>
          <a:prstGeom prst="rect">
            <a:avLst/>
          </a:prstGeom>
          <a:solidFill>
            <a:srgbClr val="FFFFFF"/>
          </a:solidFill>
          <a:ln w="6350">
            <a:solidFill>
              <a:srgbClr val="E2E8F0"/>
            </a:solidFill>
            <a:prstDash val="solid"/>
          </a:ln>
        </p:spPr>
      </p:sp>
      <p:sp>
        <p:nvSpPr>
          <p:cNvPr id="15" name="Text 13"/>
          <p:cNvSpPr/>
          <p:nvPr/>
        </p:nvSpPr>
        <p:spPr>
          <a:xfrm>
            <a:off x="3436544" y="224028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Human developer</a:t>
            </a:r>
            <a:endParaRPr lang="en-US" sz="1300" dirty="0"/>
          </a:p>
        </p:txBody>
      </p:sp>
      <p:sp>
        <p:nvSpPr>
          <p:cNvPr id="16" name="Shape 14"/>
          <p:cNvSpPr/>
          <p:nvPr/>
        </p:nvSpPr>
        <p:spPr>
          <a:xfrm>
            <a:off x="6095848" y="2240280"/>
            <a:ext cx="2796464" cy="880110"/>
          </a:xfrm>
          <a:prstGeom prst="rect">
            <a:avLst/>
          </a:prstGeom>
          <a:solidFill>
            <a:srgbClr val="FFFFFF"/>
          </a:solidFill>
          <a:ln w="6350">
            <a:solidFill>
              <a:srgbClr val="E2E8F0"/>
            </a:solidFill>
            <a:prstDash val="solid"/>
          </a:ln>
        </p:spPr>
      </p:sp>
      <p:sp>
        <p:nvSpPr>
          <p:cNvPr id="17" name="Text 15"/>
          <p:cNvSpPr/>
          <p:nvPr/>
        </p:nvSpPr>
        <p:spPr>
          <a:xfrm>
            <a:off x="6233008" y="224028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LLM at runtime</a:t>
            </a:r>
            <a:endParaRPr lang="en-US" sz="1300" dirty="0"/>
          </a:p>
        </p:txBody>
      </p:sp>
      <p:sp>
        <p:nvSpPr>
          <p:cNvPr id="18" name="Shape 16"/>
          <p:cNvSpPr/>
          <p:nvPr/>
        </p:nvSpPr>
        <p:spPr>
          <a:xfrm>
            <a:off x="8892311" y="2240280"/>
            <a:ext cx="2796464" cy="880110"/>
          </a:xfrm>
          <a:prstGeom prst="rect">
            <a:avLst/>
          </a:prstGeom>
          <a:solidFill>
            <a:srgbClr val="FFFFFF"/>
          </a:solidFill>
          <a:ln w="6350">
            <a:solidFill>
              <a:srgbClr val="E2E8F0"/>
            </a:solidFill>
            <a:prstDash val="solid"/>
          </a:ln>
        </p:spPr>
      </p:sp>
      <p:sp>
        <p:nvSpPr>
          <p:cNvPr id="19" name="Text 17"/>
          <p:cNvSpPr/>
          <p:nvPr/>
        </p:nvSpPr>
        <p:spPr>
          <a:xfrm>
            <a:off x="9029471" y="224028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Autonomous agent</a:t>
            </a:r>
            <a:endParaRPr lang="en-US" sz="1300" dirty="0"/>
          </a:p>
        </p:txBody>
      </p:sp>
      <p:sp>
        <p:nvSpPr>
          <p:cNvPr id="20" name="Shape 18"/>
          <p:cNvSpPr/>
          <p:nvPr/>
        </p:nvSpPr>
        <p:spPr>
          <a:xfrm>
            <a:off x="502920" y="3120390"/>
            <a:ext cx="2796464" cy="880110"/>
          </a:xfrm>
          <a:prstGeom prst="rect">
            <a:avLst/>
          </a:prstGeom>
          <a:solidFill>
            <a:srgbClr val="F8FAFC"/>
          </a:solidFill>
          <a:ln w="6350">
            <a:solidFill>
              <a:srgbClr val="E2E8F0"/>
            </a:solidFill>
            <a:prstDash val="solid"/>
          </a:ln>
        </p:spPr>
      </p:sp>
      <p:sp>
        <p:nvSpPr>
          <p:cNvPr id="21" name="Text 19"/>
          <p:cNvSpPr/>
          <p:nvPr/>
        </p:nvSpPr>
        <p:spPr>
          <a:xfrm>
            <a:off x="640080" y="312039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Discovery</a:t>
            </a:r>
            <a:endParaRPr lang="en-US" sz="1300" dirty="0"/>
          </a:p>
        </p:txBody>
      </p:sp>
      <p:sp>
        <p:nvSpPr>
          <p:cNvPr id="22" name="Shape 20"/>
          <p:cNvSpPr/>
          <p:nvPr/>
        </p:nvSpPr>
        <p:spPr>
          <a:xfrm>
            <a:off x="3299384" y="3120390"/>
            <a:ext cx="2796464" cy="880110"/>
          </a:xfrm>
          <a:prstGeom prst="rect">
            <a:avLst/>
          </a:prstGeom>
          <a:solidFill>
            <a:srgbClr val="F8FAFC"/>
          </a:solidFill>
          <a:ln w="6350">
            <a:solidFill>
              <a:srgbClr val="E2E8F0"/>
            </a:solidFill>
            <a:prstDash val="solid"/>
          </a:ln>
        </p:spPr>
      </p:sp>
      <p:sp>
        <p:nvSpPr>
          <p:cNvPr id="23" name="Text 21"/>
          <p:cNvSpPr/>
          <p:nvPr/>
        </p:nvSpPr>
        <p:spPr>
          <a:xfrm>
            <a:off x="3436544" y="312039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OpenAPI docs — out of band</a:t>
            </a:r>
            <a:endParaRPr lang="en-US" sz="1300" dirty="0"/>
          </a:p>
        </p:txBody>
      </p:sp>
      <p:sp>
        <p:nvSpPr>
          <p:cNvPr id="24" name="Shape 22"/>
          <p:cNvSpPr/>
          <p:nvPr/>
        </p:nvSpPr>
        <p:spPr>
          <a:xfrm>
            <a:off x="6095848" y="3120390"/>
            <a:ext cx="2796464" cy="880110"/>
          </a:xfrm>
          <a:prstGeom prst="rect">
            <a:avLst/>
          </a:prstGeom>
          <a:solidFill>
            <a:srgbClr val="F8FAFC"/>
          </a:solidFill>
          <a:ln w="6350">
            <a:solidFill>
              <a:srgbClr val="E2E8F0"/>
            </a:solidFill>
            <a:prstDash val="solid"/>
          </a:ln>
        </p:spPr>
      </p:sp>
      <p:sp>
        <p:nvSpPr>
          <p:cNvPr id="25" name="Text 23"/>
          <p:cNvSpPr/>
          <p:nvPr/>
        </p:nvSpPr>
        <p:spPr>
          <a:xfrm>
            <a:off x="6233008" y="312039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list_tools — in band</a:t>
            </a:r>
            <a:endParaRPr lang="en-US" sz="1300" dirty="0"/>
          </a:p>
        </p:txBody>
      </p:sp>
      <p:sp>
        <p:nvSpPr>
          <p:cNvPr id="26" name="Shape 24"/>
          <p:cNvSpPr/>
          <p:nvPr/>
        </p:nvSpPr>
        <p:spPr>
          <a:xfrm>
            <a:off x="8892311" y="3120390"/>
            <a:ext cx="2796464" cy="880110"/>
          </a:xfrm>
          <a:prstGeom prst="rect">
            <a:avLst/>
          </a:prstGeom>
          <a:solidFill>
            <a:srgbClr val="F8FAFC"/>
          </a:solidFill>
          <a:ln w="6350">
            <a:solidFill>
              <a:srgbClr val="E2E8F0"/>
            </a:solidFill>
            <a:prstDash val="solid"/>
          </a:ln>
        </p:spPr>
      </p:sp>
      <p:sp>
        <p:nvSpPr>
          <p:cNvPr id="27" name="Text 25"/>
          <p:cNvSpPr/>
          <p:nvPr/>
        </p:nvSpPr>
        <p:spPr>
          <a:xfrm>
            <a:off x="9029471" y="312039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agent-card.json — in band</a:t>
            </a:r>
            <a:endParaRPr lang="en-US" sz="1300" dirty="0"/>
          </a:p>
        </p:txBody>
      </p:sp>
      <p:sp>
        <p:nvSpPr>
          <p:cNvPr id="28" name="Shape 26"/>
          <p:cNvSpPr/>
          <p:nvPr/>
        </p:nvSpPr>
        <p:spPr>
          <a:xfrm>
            <a:off x="502920" y="4000500"/>
            <a:ext cx="2796464" cy="880110"/>
          </a:xfrm>
          <a:prstGeom prst="rect">
            <a:avLst/>
          </a:prstGeom>
          <a:solidFill>
            <a:srgbClr val="FFFFFF"/>
          </a:solidFill>
          <a:ln w="6350">
            <a:solidFill>
              <a:srgbClr val="E2E8F0"/>
            </a:solidFill>
            <a:prstDash val="solid"/>
          </a:ln>
        </p:spPr>
      </p:sp>
      <p:sp>
        <p:nvSpPr>
          <p:cNvPr id="29" name="Text 27"/>
          <p:cNvSpPr/>
          <p:nvPr/>
        </p:nvSpPr>
        <p:spPr>
          <a:xfrm>
            <a:off x="640080" y="400050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State model</a:t>
            </a:r>
            <a:endParaRPr lang="en-US" sz="1300" dirty="0"/>
          </a:p>
        </p:txBody>
      </p:sp>
      <p:sp>
        <p:nvSpPr>
          <p:cNvPr id="30" name="Shape 28"/>
          <p:cNvSpPr/>
          <p:nvPr/>
        </p:nvSpPr>
        <p:spPr>
          <a:xfrm>
            <a:off x="3299384" y="4000500"/>
            <a:ext cx="2796464" cy="880110"/>
          </a:xfrm>
          <a:prstGeom prst="rect">
            <a:avLst/>
          </a:prstGeom>
          <a:solidFill>
            <a:srgbClr val="FFFFFF"/>
          </a:solidFill>
          <a:ln w="6350">
            <a:solidFill>
              <a:srgbClr val="E2E8F0"/>
            </a:solidFill>
            <a:prstDash val="solid"/>
          </a:ln>
        </p:spPr>
      </p:sp>
      <p:sp>
        <p:nvSpPr>
          <p:cNvPr id="31" name="Text 29"/>
          <p:cNvSpPr/>
          <p:nvPr/>
        </p:nvSpPr>
        <p:spPr>
          <a:xfrm>
            <a:off x="3436544" y="400050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Stateless, sessions opt-in</a:t>
            </a:r>
            <a:endParaRPr lang="en-US" sz="1300" dirty="0"/>
          </a:p>
        </p:txBody>
      </p:sp>
      <p:sp>
        <p:nvSpPr>
          <p:cNvPr id="32" name="Shape 30"/>
          <p:cNvSpPr/>
          <p:nvPr/>
        </p:nvSpPr>
        <p:spPr>
          <a:xfrm>
            <a:off x="6095848" y="4000500"/>
            <a:ext cx="2796464" cy="880110"/>
          </a:xfrm>
          <a:prstGeom prst="rect">
            <a:avLst/>
          </a:prstGeom>
          <a:solidFill>
            <a:srgbClr val="FFFFFF"/>
          </a:solidFill>
          <a:ln w="6350">
            <a:solidFill>
              <a:srgbClr val="E2E8F0"/>
            </a:solidFill>
            <a:prstDash val="solid"/>
          </a:ln>
        </p:spPr>
      </p:sp>
      <p:sp>
        <p:nvSpPr>
          <p:cNvPr id="33" name="Text 31"/>
          <p:cNvSpPr/>
          <p:nvPr/>
        </p:nvSpPr>
        <p:spPr>
          <a:xfrm>
            <a:off x="6233008" y="400050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Stateless calls, sessions opt-in</a:t>
            </a:r>
            <a:endParaRPr lang="en-US" sz="1300" dirty="0"/>
          </a:p>
        </p:txBody>
      </p:sp>
      <p:sp>
        <p:nvSpPr>
          <p:cNvPr id="34" name="Shape 32"/>
          <p:cNvSpPr/>
          <p:nvPr/>
        </p:nvSpPr>
        <p:spPr>
          <a:xfrm>
            <a:off x="8892311" y="4000500"/>
            <a:ext cx="2796464" cy="880110"/>
          </a:xfrm>
          <a:prstGeom prst="rect">
            <a:avLst/>
          </a:prstGeom>
          <a:solidFill>
            <a:srgbClr val="FFFFFF"/>
          </a:solidFill>
          <a:ln w="6350">
            <a:solidFill>
              <a:srgbClr val="E2E8F0"/>
            </a:solidFill>
            <a:prstDash val="solid"/>
          </a:ln>
        </p:spPr>
      </p:sp>
      <p:sp>
        <p:nvSpPr>
          <p:cNvPr id="35" name="Text 33"/>
          <p:cNvSpPr/>
          <p:nvPr/>
        </p:nvSpPr>
        <p:spPr>
          <a:xfrm>
            <a:off x="9029471" y="400050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Stateful tasks, long-running</a:t>
            </a:r>
            <a:endParaRPr lang="en-US" sz="1300" dirty="0"/>
          </a:p>
        </p:txBody>
      </p:sp>
      <p:sp>
        <p:nvSpPr>
          <p:cNvPr id="36" name="Shape 34"/>
          <p:cNvSpPr/>
          <p:nvPr/>
        </p:nvSpPr>
        <p:spPr>
          <a:xfrm>
            <a:off x="502920" y="4880610"/>
            <a:ext cx="2796464" cy="880110"/>
          </a:xfrm>
          <a:prstGeom prst="rect">
            <a:avLst/>
          </a:prstGeom>
          <a:solidFill>
            <a:srgbClr val="F8FAFC"/>
          </a:solidFill>
          <a:ln w="6350">
            <a:solidFill>
              <a:srgbClr val="E2E8F0"/>
            </a:solidFill>
            <a:prstDash val="solid"/>
          </a:ln>
        </p:spPr>
      </p:sp>
      <p:sp>
        <p:nvSpPr>
          <p:cNvPr id="37" name="Text 35"/>
          <p:cNvSpPr/>
          <p:nvPr/>
        </p:nvSpPr>
        <p:spPr>
          <a:xfrm>
            <a:off x="640080" y="488061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Integration cost</a:t>
            </a:r>
            <a:endParaRPr lang="en-US" sz="1300" dirty="0"/>
          </a:p>
        </p:txBody>
      </p:sp>
      <p:sp>
        <p:nvSpPr>
          <p:cNvPr id="38" name="Shape 36"/>
          <p:cNvSpPr/>
          <p:nvPr/>
        </p:nvSpPr>
        <p:spPr>
          <a:xfrm>
            <a:off x="3299384" y="4880610"/>
            <a:ext cx="2796464" cy="880110"/>
          </a:xfrm>
          <a:prstGeom prst="rect">
            <a:avLst/>
          </a:prstGeom>
          <a:solidFill>
            <a:srgbClr val="F8FAFC"/>
          </a:solidFill>
          <a:ln w="6350">
            <a:solidFill>
              <a:srgbClr val="E2E8F0"/>
            </a:solidFill>
            <a:prstDash val="solid"/>
          </a:ln>
        </p:spPr>
      </p:sp>
      <p:sp>
        <p:nvSpPr>
          <p:cNvPr id="39" name="Text 37"/>
          <p:cNvSpPr/>
          <p:nvPr/>
        </p:nvSpPr>
        <p:spPr>
          <a:xfrm>
            <a:off x="3436544" y="488061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 x N custom adapters</a:t>
            </a:r>
            <a:endParaRPr lang="en-US" sz="1300" dirty="0"/>
          </a:p>
        </p:txBody>
      </p:sp>
      <p:sp>
        <p:nvSpPr>
          <p:cNvPr id="40" name="Shape 38"/>
          <p:cNvSpPr/>
          <p:nvPr/>
        </p:nvSpPr>
        <p:spPr>
          <a:xfrm>
            <a:off x="6095848" y="4880610"/>
            <a:ext cx="2796464" cy="880110"/>
          </a:xfrm>
          <a:prstGeom prst="rect">
            <a:avLst/>
          </a:prstGeom>
          <a:solidFill>
            <a:srgbClr val="F8FAFC"/>
          </a:solidFill>
          <a:ln w="6350">
            <a:solidFill>
              <a:srgbClr val="E2E8F0"/>
            </a:solidFill>
            <a:prstDash val="solid"/>
          </a:ln>
        </p:spPr>
      </p:sp>
      <p:sp>
        <p:nvSpPr>
          <p:cNvPr id="41" name="Text 39"/>
          <p:cNvSpPr/>
          <p:nvPr/>
        </p:nvSpPr>
        <p:spPr>
          <a:xfrm>
            <a:off x="6233008" y="488061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M+N — one server, many clients</a:t>
            </a:r>
            <a:endParaRPr lang="en-US" sz="1300" dirty="0"/>
          </a:p>
        </p:txBody>
      </p:sp>
      <p:sp>
        <p:nvSpPr>
          <p:cNvPr id="42" name="Shape 40"/>
          <p:cNvSpPr/>
          <p:nvPr/>
        </p:nvSpPr>
        <p:spPr>
          <a:xfrm>
            <a:off x="8892311" y="4880610"/>
            <a:ext cx="2796464" cy="880110"/>
          </a:xfrm>
          <a:prstGeom prst="rect">
            <a:avLst/>
          </a:prstGeom>
          <a:solidFill>
            <a:srgbClr val="F8FAFC"/>
          </a:solidFill>
          <a:ln w="6350">
            <a:solidFill>
              <a:srgbClr val="E2E8F0"/>
            </a:solidFill>
            <a:prstDash val="solid"/>
          </a:ln>
        </p:spPr>
      </p:sp>
      <p:sp>
        <p:nvSpPr>
          <p:cNvPr id="43" name="Text 41"/>
          <p:cNvSpPr/>
          <p:nvPr/>
        </p:nvSpPr>
        <p:spPr>
          <a:xfrm>
            <a:off x="9029471" y="4880610"/>
            <a:ext cx="2522144" cy="880110"/>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M+N — at the agent layer</a:t>
            </a:r>
            <a:endParaRPr lang="en-US" sz="1300" dirty="0"/>
          </a:p>
        </p:txBody>
      </p:sp>
      <p:sp>
        <p:nvSpPr>
          <p:cNvPr id="44" name="Shape 42"/>
          <p:cNvSpPr/>
          <p:nvPr/>
        </p:nvSpPr>
        <p:spPr>
          <a:xfrm>
            <a:off x="502920" y="5852160"/>
            <a:ext cx="11185855" cy="365760"/>
          </a:xfrm>
          <a:prstGeom prst="roundRect">
            <a:avLst>
              <a:gd name="adj" fmla="val 20000"/>
            </a:avLst>
          </a:prstGeom>
          <a:solidFill>
            <a:srgbClr val="0F172A"/>
          </a:solidFill>
          <a:ln/>
        </p:spPr>
      </p:sp>
      <p:sp>
        <p:nvSpPr>
          <p:cNvPr id="45" name="Shape 43"/>
          <p:cNvSpPr/>
          <p:nvPr/>
        </p:nvSpPr>
        <p:spPr>
          <a:xfrm>
            <a:off x="667512" y="5943600"/>
            <a:ext cx="182880" cy="182880"/>
          </a:xfrm>
          <a:prstGeom prst="ellipse">
            <a:avLst/>
          </a:prstGeom>
          <a:solidFill>
            <a:srgbClr val="D97706"/>
          </a:solidFill>
          <a:ln/>
        </p:spPr>
      </p:sp>
      <p:sp>
        <p:nvSpPr>
          <p:cNvPr id="46" name="Text 44"/>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Dynamic in-band discovery is the architectural shift that unites MCP and A2A.</a:t>
            </a:r>
            <a:endParaRPr lang="en-US" sz="1400" dirty="0"/>
          </a:p>
        </p:txBody>
      </p:sp>
      <p:sp>
        <p:nvSpPr>
          <p:cNvPr id="47" name="Text 45"/>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48" name="Text 46"/>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49" name="Text 47"/>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Meet A2A — MCP's Sibling Protocol</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Google + 50 launch partners, April 2025 — in production at 150+ orgs by Cloud Next 2026</a:t>
            </a:r>
            <a:endParaRPr lang="en-US" sz="1500" dirty="0"/>
          </a:p>
        </p:txBody>
      </p:sp>
      <p:sp>
        <p:nvSpPr>
          <p:cNvPr id="4" name="Shape 2"/>
          <p:cNvSpPr/>
          <p:nvPr/>
        </p:nvSpPr>
        <p:spPr>
          <a:xfrm>
            <a:off x="502920" y="1828800"/>
            <a:ext cx="3594506" cy="3931920"/>
          </a:xfrm>
          <a:prstGeom prst="roundRect">
            <a:avLst>
              <a:gd name="adj" fmla="val 2035"/>
            </a:avLst>
          </a:prstGeom>
          <a:solidFill>
            <a:srgbClr val="CCFBF1"/>
          </a:solidFill>
          <a:ln w="9525">
            <a:solidFill>
              <a:srgbClr val="E2E8F0"/>
            </a:solidFill>
            <a:prstDash val="solid"/>
          </a:ln>
        </p:spPr>
      </p:sp>
      <p:sp>
        <p:nvSpPr>
          <p:cNvPr id="5" name="Shape 3"/>
          <p:cNvSpPr/>
          <p:nvPr/>
        </p:nvSpPr>
        <p:spPr>
          <a:xfrm>
            <a:off x="502920" y="1828800"/>
            <a:ext cx="3594506" cy="91440"/>
          </a:xfrm>
          <a:prstGeom prst="roundRect">
            <a:avLst>
              <a:gd name="adj" fmla="val 80000"/>
            </a:avLst>
          </a:prstGeom>
          <a:solidFill>
            <a:srgbClr val="0D9488"/>
          </a:solidFill>
          <a:ln/>
        </p:spPr>
      </p:sp>
      <p:sp>
        <p:nvSpPr>
          <p:cNvPr id="6" name="Shape 4"/>
          <p:cNvSpPr/>
          <p:nvPr/>
        </p:nvSpPr>
        <p:spPr>
          <a:xfrm>
            <a:off x="502920" y="1874520"/>
            <a:ext cx="3594506" cy="45720"/>
          </a:xfrm>
          <a:prstGeom prst="rect">
            <a:avLst/>
          </a:prstGeom>
          <a:solidFill>
            <a:srgbClr val="0D9488"/>
          </a:solidFill>
          <a:ln/>
        </p:spPr>
      </p:sp>
      <p:sp>
        <p:nvSpPr>
          <p:cNvPr id="7" name="Shape 5"/>
          <p:cNvSpPr/>
          <p:nvPr/>
        </p:nvSpPr>
        <p:spPr>
          <a:xfrm>
            <a:off x="731520" y="2103120"/>
            <a:ext cx="457200" cy="457200"/>
          </a:xfrm>
          <a:prstGeom prst="ellipse">
            <a:avLst/>
          </a:prstGeom>
          <a:solidFill>
            <a:srgbClr val="0D9488"/>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AC</a:t>
            </a:r>
            <a:endParaRPr lang="en-US" sz="1400" dirty="0"/>
          </a:p>
        </p:txBody>
      </p:sp>
      <p:sp>
        <p:nvSpPr>
          <p:cNvPr id="9" name="Text 7"/>
          <p:cNvSpPr/>
          <p:nvPr/>
        </p:nvSpPr>
        <p:spPr>
          <a:xfrm>
            <a:off x="1371600"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Agent Card</a:t>
            </a:r>
            <a:endParaRPr lang="en-US" sz="1600" dirty="0"/>
          </a:p>
        </p:txBody>
      </p:sp>
      <p:sp>
        <p:nvSpPr>
          <p:cNvPr id="10" name="Text 8"/>
          <p:cNvSpPr/>
          <p:nvPr/>
        </p:nvSpPr>
        <p:spPr>
          <a:xfrm>
            <a:off x="731520"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JSON metadata served at /.well-known/agent-card.json. Describes capabilities, skills, transport, and security schemes. The A2A analog of MCP list_tools — in-band runtime discovery. Cards can be cryptographically signed.</a:t>
            </a:r>
            <a:endParaRPr lang="en-US" sz="1300" dirty="0"/>
          </a:p>
        </p:txBody>
      </p:sp>
      <p:sp>
        <p:nvSpPr>
          <p:cNvPr id="11" name="Text 9"/>
          <p:cNvSpPr/>
          <p:nvPr/>
        </p:nvSpPr>
        <p:spPr>
          <a:xfrm>
            <a:off x="731520" y="5394960"/>
            <a:ext cx="3137306"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Discovery without a hand-wired registry.</a:t>
            </a:r>
            <a:endParaRPr lang="en-US" sz="1100" dirty="0"/>
          </a:p>
        </p:txBody>
      </p:sp>
      <p:sp>
        <p:nvSpPr>
          <p:cNvPr id="12" name="Shape 10"/>
          <p:cNvSpPr/>
          <p:nvPr/>
        </p:nvSpPr>
        <p:spPr>
          <a:xfrm>
            <a:off x="4298594" y="1828800"/>
            <a:ext cx="3594506" cy="3931920"/>
          </a:xfrm>
          <a:prstGeom prst="roundRect">
            <a:avLst>
              <a:gd name="adj" fmla="val 2035"/>
            </a:avLst>
          </a:prstGeom>
          <a:solidFill>
            <a:srgbClr val="CCFBF1"/>
          </a:solidFill>
          <a:ln w="9525">
            <a:solidFill>
              <a:srgbClr val="E2E8F0"/>
            </a:solidFill>
            <a:prstDash val="solid"/>
          </a:ln>
        </p:spPr>
      </p:sp>
      <p:sp>
        <p:nvSpPr>
          <p:cNvPr id="13" name="Shape 11"/>
          <p:cNvSpPr/>
          <p:nvPr/>
        </p:nvSpPr>
        <p:spPr>
          <a:xfrm>
            <a:off x="4298594" y="1828800"/>
            <a:ext cx="3594506" cy="91440"/>
          </a:xfrm>
          <a:prstGeom prst="roundRect">
            <a:avLst>
              <a:gd name="adj" fmla="val 80000"/>
            </a:avLst>
          </a:prstGeom>
          <a:solidFill>
            <a:srgbClr val="0D9488"/>
          </a:solidFill>
          <a:ln/>
        </p:spPr>
      </p:sp>
      <p:sp>
        <p:nvSpPr>
          <p:cNvPr id="14" name="Shape 12"/>
          <p:cNvSpPr/>
          <p:nvPr/>
        </p:nvSpPr>
        <p:spPr>
          <a:xfrm>
            <a:off x="4298594" y="1874520"/>
            <a:ext cx="3594506" cy="45720"/>
          </a:xfrm>
          <a:prstGeom prst="rect">
            <a:avLst/>
          </a:prstGeom>
          <a:solidFill>
            <a:srgbClr val="0D9488"/>
          </a:solidFill>
          <a:ln/>
        </p:spPr>
      </p:sp>
      <p:sp>
        <p:nvSpPr>
          <p:cNvPr id="15" name="Shape 13"/>
          <p:cNvSpPr/>
          <p:nvPr/>
        </p:nvSpPr>
        <p:spPr>
          <a:xfrm>
            <a:off x="4527194" y="2103120"/>
            <a:ext cx="457200" cy="457200"/>
          </a:xfrm>
          <a:prstGeom prst="ellipse">
            <a:avLst/>
          </a:prstGeom>
          <a:solidFill>
            <a:srgbClr val="0D9488"/>
          </a:solidFill>
          <a:ln/>
        </p:spPr>
      </p:sp>
      <p:sp>
        <p:nvSpPr>
          <p:cNvPr id="16" name="Text 14"/>
          <p:cNvSpPr/>
          <p:nvPr/>
        </p:nvSpPr>
        <p:spPr>
          <a:xfrm>
            <a:off x="4527194"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TK</a:t>
            </a:r>
            <a:endParaRPr lang="en-US" sz="1400" dirty="0"/>
          </a:p>
        </p:txBody>
      </p:sp>
      <p:sp>
        <p:nvSpPr>
          <p:cNvPr id="17" name="Text 15"/>
          <p:cNvSpPr/>
          <p:nvPr/>
        </p:nvSpPr>
        <p:spPr>
          <a:xfrm>
            <a:off x="5167274"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Tasks and Artifacts</a:t>
            </a:r>
            <a:endParaRPr lang="en-US" sz="1600" dirty="0"/>
          </a:p>
        </p:txBody>
      </p:sp>
      <p:sp>
        <p:nvSpPr>
          <p:cNvPr id="18" name="Text 16"/>
          <p:cNvSpPr/>
          <p:nvPr/>
        </p:nvSpPr>
        <p:spPr>
          <a:xfrm>
            <a:off x="4527194"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A stateful work unit with a unique ID and lifecycle — submitted, in-progress, completed, failed. Tasks run minutes to days. Artifacts are tangible deliverables. MCP tool calls are one-shot; A2A tasks are workflows.</a:t>
            </a:r>
            <a:endParaRPr lang="en-US" sz="1300" dirty="0"/>
          </a:p>
        </p:txBody>
      </p:sp>
      <p:sp>
        <p:nvSpPr>
          <p:cNvPr id="19" name="Text 17"/>
          <p:cNvSpPr/>
          <p:nvPr/>
        </p:nvSpPr>
        <p:spPr>
          <a:xfrm>
            <a:off x="4527194" y="5394960"/>
            <a:ext cx="3137306"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Tasks are the primitive MCP deliberately omits.</a:t>
            </a:r>
            <a:endParaRPr lang="en-US" sz="1100" dirty="0"/>
          </a:p>
        </p:txBody>
      </p:sp>
      <p:sp>
        <p:nvSpPr>
          <p:cNvPr id="20" name="Shape 18"/>
          <p:cNvSpPr/>
          <p:nvPr/>
        </p:nvSpPr>
        <p:spPr>
          <a:xfrm>
            <a:off x="8094269" y="1828800"/>
            <a:ext cx="3594506" cy="3931920"/>
          </a:xfrm>
          <a:prstGeom prst="roundRect">
            <a:avLst>
              <a:gd name="adj" fmla="val 2035"/>
            </a:avLst>
          </a:prstGeom>
          <a:solidFill>
            <a:srgbClr val="E0F2FE"/>
          </a:solidFill>
          <a:ln w="9525">
            <a:solidFill>
              <a:srgbClr val="E2E8F0"/>
            </a:solidFill>
            <a:prstDash val="solid"/>
          </a:ln>
        </p:spPr>
      </p:sp>
      <p:sp>
        <p:nvSpPr>
          <p:cNvPr id="21" name="Shape 19"/>
          <p:cNvSpPr/>
          <p:nvPr/>
        </p:nvSpPr>
        <p:spPr>
          <a:xfrm>
            <a:off x="8094269" y="1828800"/>
            <a:ext cx="3594506" cy="91440"/>
          </a:xfrm>
          <a:prstGeom prst="roundRect">
            <a:avLst>
              <a:gd name="adj" fmla="val 80000"/>
            </a:avLst>
          </a:prstGeom>
          <a:solidFill>
            <a:srgbClr val="0284C7"/>
          </a:solidFill>
          <a:ln/>
        </p:spPr>
      </p:sp>
      <p:sp>
        <p:nvSpPr>
          <p:cNvPr id="22" name="Shape 20"/>
          <p:cNvSpPr/>
          <p:nvPr/>
        </p:nvSpPr>
        <p:spPr>
          <a:xfrm>
            <a:off x="8094269" y="1874520"/>
            <a:ext cx="3594506" cy="45720"/>
          </a:xfrm>
          <a:prstGeom prst="rect">
            <a:avLst/>
          </a:prstGeom>
          <a:solidFill>
            <a:srgbClr val="0284C7"/>
          </a:solidFill>
          <a:ln/>
        </p:spPr>
      </p:sp>
      <p:sp>
        <p:nvSpPr>
          <p:cNvPr id="23" name="Shape 21"/>
          <p:cNvSpPr/>
          <p:nvPr/>
        </p:nvSpPr>
        <p:spPr>
          <a:xfrm>
            <a:off x="8322869" y="2103120"/>
            <a:ext cx="457200" cy="457200"/>
          </a:xfrm>
          <a:prstGeom prst="ellipse">
            <a:avLst/>
          </a:prstGeom>
          <a:solidFill>
            <a:srgbClr val="0284C7"/>
          </a:solidFill>
          <a:ln/>
        </p:spPr>
      </p:sp>
      <p:sp>
        <p:nvSpPr>
          <p:cNvPr id="24" name="Text 22"/>
          <p:cNvSpPr/>
          <p:nvPr/>
        </p:nvSpPr>
        <p:spPr>
          <a:xfrm>
            <a:off x="8322869"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WR</a:t>
            </a:r>
            <a:endParaRPr lang="en-US" sz="1400" dirty="0"/>
          </a:p>
        </p:txBody>
      </p:sp>
      <p:sp>
        <p:nvSpPr>
          <p:cNvPr id="25" name="Text 23"/>
          <p:cNvSpPr/>
          <p:nvPr/>
        </p:nvSpPr>
        <p:spPr>
          <a:xfrm>
            <a:off x="8962949"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Three Wire Shapes</a:t>
            </a:r>
            <a:endParaRPr lang="en-US" sz="1600" dirty="0"/>
          </a:p>
        </p:txBody>
      </p:sp>
      <p:sp>
        <p:nvSpPr>
          <p:cNvPr id="26" name="Text 24"/>
          <p:cNvSpPr/>
          <p:nvPr/>
        </p:nvSpPr>
        <p:spPr>
          <a:xfrm>
            <a:off x="8322869"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A2A composes the seven styles beneath it. Request and response polling is REST-shaped. Progress streaming uses SSE. Completion callbacks are webhook-shaped. One protocol, three patterns, zero new transport.</a:t>
            </a:r>
            <a:endParaRPr lang="en-US" sz="1300" dirty="0"/>
          </a:p>
        </p:txBody>
      </p:sp>
      <p:sp>
        <p:nvSpPr>
          <p:cNvPr id="27" name="Text 25"/>
          <p:cNvSpPr/>
          <p:nvPr/>
        </p:nvSpPr>
        <p:spPr>
          <a:xfrm>
            <a:off x="8322869" y="5394960"/>
            <a:ext cx="3137306" cy="274320"/>
          </a:xfrm>
          <a:prstGeom prst="rect">
            <a:avLst/>
          </a:prstGeom>
          <a:noFill/>
          <a:ln/>
        </p:spPr>
        <p:txBody>
          <a:bodyPr wrap="square" rtlCol="0" anchor="b"/>
          <a:lstStyle/>
          <a:p>
            <a:pPr indent="0" marL="0">
              <a:buNone/>
            </a:pPr>
            <a:r>
              <a:rPr lang="en-US" sz="1100" b="1" dirty="0">
                <a:solidFill>
                  <a:srgbClr val="0284C7"/>
                </a:solidFill>
                <a:latin typeface="Calibri" pitchFamily="34" charset="0"/>
                <a:ea typeface="Calibri" pitchFamily="34" charset="-122"/>
                <a:cs typeface="Calibri" pitchFamily="34" charset="-120"/>
              </a:rPr>
              <a:t>New protocols layer on top — they do not replace.</a:t>
            </a:r>
            <a:endParaRPr lang="en-US" sz="1100" dirty="0"/>
          </a:p>
        </p:txBody>
      </p:sp>
      <p:sp>
        <p:nvSpPr>
          <p:cNvPr id="28" name="Shape 26"/>
          <p:cNvSpPr/>
          <p:nvPr/>
        </p:nvSpPr>
        <p:spPr>
          <a:xfrm>
            <a:off x="502920" y="5852160"/>
            <a:ext cx="11185855" cy="365760"/>
          </a:xfrm>
          <a:prstGeom prst="roundRect">
            <a:avLst>
              <a:gd name="adj" fmla="val 20000"/>
            </a:avLst>
          </a:prstGeom>
          <a:solidFill>
            <a:srgbClr val="0F172A"/>
          </a:solidFill>
          <a:ln/>
        </p:spPr>
      </p:sp>
      <p:sp>
        <p:nvSpPr>
          <p:cNvPr id="29" name="Shape 27"/>
          <p:cNvSpPr/>
          <p:nvPr/>
        </p:nvSpPr>
        <p:spPr>
          <a:xfrm>
            <a:off x="667512" y="5943600"/>
            <a:ext cx="182880" cy="182880"/>
          </a:xfrm>
          <a:prstGeom prst="ellipse">
            <a:avLst/>
          </a:prstGeom>
          <a:solidFill>
            <a:srgbClr val="D97706"/>
          </a:solidFill>
          <a:ln/>
        </p:spPr>
      </p:sp>
      <p:sp>
        <p:nvSpPr>
          <p:cNvPr id="30" name="Text 28"/>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A2A lets Salesforce Agentforce hand off to Vertex AI to ServiceNow — different vendors, real production traffic.</a:t>
            </a:r>
            <a:endParaRPr lang="en-US" sz="1400" dirty="0"/>
          </a:p>
        </p:txBody>
      </p:sp>
      <p:sp>
        <p:nvSpPr>
          <p:cNvPr id="31" name="Text 29"/>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32" name="Text 30"/>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33" name="Text 31"/>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 / 18</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Production Challenges — Security</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The failure modes burning teams in 2025 MCP deployments</a:t>
            </a:r>
            <a:endParaRPr lang="en-US" sz="1500" dirty="0"/>
          </a:p>
        </p:txBody>
      </p:sp>
      <p:sp>
        <p:nvSpPr>
          <p:cNvPr id="4" name="Shape 2"/>
          <p:cNvSpPr/>
          <p:nvPr/>
        </p:nvSpPr>
        <p:spPr>
          <a:xfrm>
            <a:off x="502920" y="1828800"/>
            <a:ext cx="5410048" cy="73152"/>
          </a:xfrm>
          <a:prstGeom prst="rect">
            <a:avLst/>
          </a:prstGeom>
          <a:solidFill>
            <a:srgbClr val="D97706"/>
          </a:solidFill>
          <a:ln/>
        </p:spPr>
      </p:sp>
      <p:sp>
        <p:nvSpPr>
          <p:cNvPr id="5" name="Text 3"/>
          <p:cNvSpPr/>
          <p:nvPr/>
        </p:nvSpPr>
        <p:spPr>
          <a:xfrm>
            <a:off x="502920" y="2011680"/>
            <a:ext cx="5410048" cy="41148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Prompt injection via tool output</a:t>
            </a:r>
            <a:endParaRPr lang="en-US" sz="1600" dirty="0"/>
          </a:p>
        </p:txBody>
      </p:sp>
      <p:sp>
        <p:nvSpPr>
          <p:cNvPr id="6" name="Text 4"/>
          <p:cNvSpPr/>
          <p:nvPr/>
        </p:nvSpPr>
        <p:spPr>
          <a:xfrm>
            <a:off x="502920" y="2560320"/>
            <a:ext cx="5410048" cy="3200400"/>
          </a:xfrm>
          <a:prstGeom prst="rect">
            <a:avLst/>
          </a:prstGeom>
          <a:noFill/>
          <a:ln/>
        </p:spPr>
        <p:txBody>
          <a:bodyPr wrap="square"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Tool returns attacker-controlled text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LLM reads it as a trusted instruction</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Largest attack class in MCP deployments today</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Action-Selector — only predefined actions allowed</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Plan-Then-Execute — plan locked before tools run</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Dual-LLM — privileged planner, sandboxed processor</a:t>
            </a:r>
            <a:endParaRPr lang="en-US" sz="1400" dirty="0"/>
          </a:p>
        </p:txBody>
      </p:sp>
      <p:sp>
        <p:nvSpPr>
          <p:cNvPr id="7" name="Shape 5"/>
          <p:cNvSpPr/>
          <p:nvPr/>
        </p:nvSpPr>
        <p:spPr>
          <a:xfrm>
            <a:off x="6278728" y="1828800"/>
            <a:ext cx="5410048" cy="73152"/>
          </a:xfrm>
          <a:prstGeom prst="rect">
            <a:avLst/>
          </a:prstGeom>
          <a:solidFill>
            <a:srgbClr val="0D9488"/>
          </a:solidFill>
          <a:ln/>
        </p:spPr>
      </p:sp>
      <p:sp>
        <p:nvSpPr>
          <p:cNvPr id="8" name="Text 6"/>
          <p:cNvSpPr/>
          <p:nvPr/>
        </p:nvSpPr>
        <p:spPr>
          <a:xfrm>
            <a:off x="6278728" y="2011680"/>
            <a:ext cx="5410048" cy="41148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Excessive tool authorization</a:t>
            </a:r>
            <a:endParaRPr lang="en-US" sz="1600" dirty="0"/>
          </a:p>
        </p:txBody>
      </p:sp>
      <p:sp>
        <p:nvSpPr>
          <p:cNvPr id="9" name="Text 7"/>
          <p:cNvSpPr/>
          <p:nvPr/>
        </p:nvSpPr>
        <p:spPr>
          <a:xfrm>
            <a:off x="6278728" y="2560320"/>
            <a:ext cx="5410048" cy="3200400"/>
          </a:xfrm>
          <a:prstGeom prst="rect">
            <a:avLst/>
          </a:prstGeom>
          <a:noFill/>
          <a:ln/>
        </p:spPr>
        <p:txBody>
          <a:bodyPr wrap="square"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MCP inherits whatever scopes the user granted</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No least-privilege enforcement by default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Narrow send_email_to_team beats broad send_email</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Map-Reduce — untrusted inputs in isolated subagents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Code-Then-Execute — LLM writes code, code runs deterministically</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Context-Minimization — strip original prompt after step one</a:t>
            </a:r>
            <a:endParaRPr lang="en-US" sz="1400" dirty="0"/>
          </a:p>
        </p:txBody>
      </p:sp>
      <p:sp>
        <p:nvSpPr>
          <p:cNvPr id="10" name="Shape 8"/>
          <p:cNvSpPr/>
          <p:nvPr/>
        </p:nvSpPr>
        <p:spPr>
          <a:xfrm>
            <a:off x="502920" y="5852160"/>
            <a:ext cx="11185855" cy="365760"/>
          </a:xfrm>
          <a:prstGeom prst="roundRect">
            <a:avLst>
              <a:gd name="adj" fmla="val 20000"/>
            </a:avLst>
          </a:prstGeom>
          <a:solidFill>
            <a:srgbClr val="0F172A"/>
          </a:solidFill>
          <a:ln/>
        </p:spPr>
      </p:sp>
      <p:sp>
        <p:nvSpPr>
          <p:cNvPr id="11" name="Shape 9"/>
          <p:cNvSpPr/>
          <p:nvPr/>
        </p:nvSpPr>
        <p:spPr>
          <a:xfrm>
            <a:off x="667512" y="5943600"/>
            <a:ext cx="182880" cy="182880"/>
          </a:xfrm>
          <a:prstGeom prst="ellipse">
            <a:avLst/>
          </a:prstGeom>
          <a:solidFill>
            <a:srgbClr val="D97706"/>
          </a:solidFill>
          <a:ln/>
        </p:spPr>
      </p:sp>
      <p:sp>
        <p:nvSpPr>
          <p:cNvPr id="12" name="Text 10"/>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Security in MCP is a design problem — narrow tools and elicitation are the primary mitigations.</a:t>
            </a:r>
            <a:endParaRPr lang="en-US" sz="1400" dirty="0"/>
          </a:p>
        </p:txBody>
      </p:sp>
      <p:sp>
        <p:nvSpPr>
          <p:cNvPr id="13" name="Text 11"/>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14" name="Text 12"/>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15" name="Text 13"/>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 / 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Production Challenges — Reliability and Ops</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Four failure modes that compound across multi-agent chains</a:t>
            </a:r>
            <a:endParaRPr lang="en-US" sz="1500" dirty="0"/>
          </a:p>
        </p:txBody>
      </p:sp>
      <p:sp>
        <p:nvSpPr>
          <p:cNvPr id="4" name="Shape 2"/>
          <p:cNvSpPr/>
          <p:nvPr/>
        </p:nvSpPr>
        <p:spPr>
          <a:xfrm>
            <a:off x="502920" y="1828800"/>
            <a:ext cx="5492344" cy="1865376"/>
          </a:xfrm>
          <a:prstGeom prst="roundRect">
            <a:avLst>
              <a:gd name="adj" fmla="val 3922"/>
            </a:avLst>
          </a:prstGeom>
          <a:solidFill>
            <a:srgbClr val="FEF3C7"/>
          </a:solidFill>
          <a:ln w="9525">
            <a:solidFill>
              <a:srgbClr val="E2E8F0"/>
            </a:solidFill>
            <a:prstDash val="solid"/>
          </a:ln>
        </p:spPr>
      </p:sp>
      <p:sp>
        <p:nvSpPr>
          <p:cNvPr id="5" name="Shape 3"/>
          <p:cNvSpPr/>
          <p:nvPr/>
        </p:nvSpPr>
        <p:spPr>
          <a:xfrm>
            <a:off x="502920" y="1828800"/>
            <a:ext cx="5492344" cy="91440"/>
          </a:xfrm>
          <a:prstGeom prst="roundRect">
            <a:avLst>
              <a:gd name="adj" fmla="val 80000"/>
            </a:avLst>
          </a:prstGeom>
          <a:solidFill>
            <a:srgbClr val="D97706"/>
          </a:solidFill>
          <a:ln/>
        </p:spPr>
      </p:sp>
      <p:sp>
        <p:nvSpPr>
          <p:cNvPr id="6" name="Shape 4"/>
          <p:cNvSpPr/>
          <p:nvPr/>
        </p:nvSpPr>
        <p:spPr>
          <a:xfrm>
            <a:off x="502920" y="1874520"/>
            <a:ext cx="5492344" cy="45720"/>
          </a:xfrm>
          <a:prstGeom prst="rect">
            <a:avLst/>
          </a:prstGeom>
          <a:solidFill>
            <a:srgbClr val="D97706"/>
          </a:solidFill>
          <a:ln/>
        </p:spPr>
      </p:sp>
      <p:sp>
        <p:nvSpPr>
          <p:cNvPr id="7" name="Shape 5"/>
          <p:cNvSpPr/>
          <p:nvPr/>
        </p:nvSpPr>
        <p:spPr>
          <a:xfrm>
            <a:off x="731520" y="2103120"/>
            <a:ext cx="457200" cy="457200"/>
          </a:xfrm>
          <a:prstGeom prst="ellipse">
            <a:avLst/>
          </a:prstGeom>
          <a:solidFill>
            <a:srgbClr val="D97706"/>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H1</a:t>
            </a:r>
            <a:endParaRPr lang="en-US" sz="1400" dirty="0"/>
          </a:p>
        </p:txBody>
      </p:sp>
      <p:sp>
        <p:nvSpPr>
          <p:cNvPr id="9" name="Text 7"/>
          <p:cNvSpPr/>
          <p:nvPr/>
        </p:nvSpPr>
        <p:spPr>
          <a:xfrm>
            <a:off x="1371600" y="2103120"/>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Hallucinated Tool Results</a:t>
            </a:r>
            <a:endParaRPr lang="en-US" sz="1600" dirty="0"/>
          </a:p>
        </p:txBody>
      </p:sp>
      <p:sp>
        <p:nvSpPr>
          <p:cNvPr id="10" name="Text 8"/>
          <p:cNvSpPr/>
          <p:nvPr/>
        </p:nvSpPr>
        <p:spPr>
          <a:xfrm>
            <a:off x="731520" y="2743200"/>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Agent reports success when the tool actually timed out. Downstream agents act on the lie; errors cascade. Fix: cite raw tool output, log executions separately, require structured success and failure indicators.</a:t>
            </a:r>
            <a:endParaRPr lang="en-US" sz="1300" dirty="0"/>
          </a:p>
        </p:txBody>
      </p:sp>
      <p:sp>
        <p:nvSpPr>
          <p:cNvPr id="11" name="Text 9"/>
          <p:cNvSpPr/>
          <p:nvPr/>
        </p:nvSpPr>
        <p:spPr>
          <a:xfrm>
            <a:off x="731520" y="3328416"/>
            <a:ext cx="5035144" cy="274320"/>
          </a:xfrm>
          <a:prstGeom prst="rect">
            <a:avLst/>
          </a:prstGeom>
          <a:noFill/>
          <a:ln/>
        </p:spPr>
        <p:txBody>
          <a:bodyPr wrap="square" rtlCol="0" anchor="b"/>
          <a:lstStyle/>
          <a:p>
            <a:pPr indent="0" marL="0">
              <a:buNone/>
            </a:pPr>
            <a:r>
              <a:rPr lang="en-US" sz="1100" b="1" dirty="0">
                <a:solidFill>
                  <a:srgbClr val="D97706"/>
                </a:solidFill>
                <a:latin typeface="Calibri" pitchFamily="34" charset="0"/>
                <a:ea typeface="Calibri" pitchFamily="34" charset="-122"/>
                <a:cs typeface="Calibri" pitchFamily="34" charset="-120"/>
              </a:rPr>
              <a:t>Never let an agent paraphrase a tool result.</a:t>
            </a:r>
            <a:endParaRPr lang="en-US" sz="1100" dirty="0"/>
          </a:p>
        </p:txBody>
      </p:sp>
      <p:sp>
        <p:nvSpPr>
          <p:cNvPr id="12" name="Shape 10"/>
          <p:cNvSpPr/>
          <p:nvPr/>
        </p:nvSpPr>
        <p:spPr>
          <a:xfrm>
            <a:off x="6196432" y="1828800"/>
            <a:ext cx="5492344" cy="1865376"/>
          </a:xfrm>
          <a:prstGeom prst="roundRect">
            <a:avLst>
              <a:gd name="adj" fmla="val 3922"/>
            </a:avLst>
          </a:prstGeom>
          <a:solidFill>
            <a:srgbClr val="FEF3C7"/>
          </a:solidFill>
          <a:ln w="9525">
            <a:solidFill>
              <a:srgbClr val="E2E8F0"/>
            </a:solidFill>
            <a:prstDash val="solid"/>
          </a:ln>
        </p:spPr>
      </p:sp>
      <p:sp>
        <p:nvSpPr>
          <p:cNvPr id="13" name="Shape 11"/>
          <p:cNvSpPr/>
          <p:nvPr/>
        </p:nvSpPr>
        <p:spPr>
          <a:xfrm>
            <a:off x="6196432" y="1828800"/>
            <a:ext cx="5492344" cy="91440"/>
          </a:xfrm>
          <a:prstGeom prst="roundRect">
            <a:avLst>
              <a:gd name="adj" fmla="val 80000"/>
            </a:avLst>
          </a:prstGeom>
          <a:solidFill>
            <a:srgbClr val="D97706"/>
          </a:solidFill>
          <a:ln/>
        </p:spPr>
      </p:sp>
      <p:sp>
        <p:nvSpPr>
          <p:cNvPr id="14" name="Shape 12"/>
          <p:cNvSpPr/>
          <p:nvPr/>
        </p:nvSpPr>
        <p:spPr>
          <a:xfrm>
            <a:off x="6196432" y="1874520"/>
            <a:ext cx="5492344" cy="45720"/>
          </a:xfrm>
          <a:prstGeom prst="rect">
            <a:avLst/>
          </a:prstGeom>
          <a:solidFill>
            <a:srgbClr val="D97706"/>
          </a:solidFill>
          <a:ln/>
        </p:spPr>
      </p:sp>
      <p:sp>
        <p:nvSpPr>
          <p:cNvPr id="15" name="Shape 13"/>
          <p:cNvSpPr/>
          <p:nvPr/>
        </p:nvSpPr>
        <p:spPr>
          <a:xfrm>
            <a:off x="6425032" y="2103120"/>
            <a:ext cx="457200" cy="457200"/>
          </a:xfrm>
          <a:prstGeom prst="ellipse">
            <a:avLst/>
          </a:prstGeom>
          <a:solidFill>
            <a:srgbClr val="D97706"/>
          </a:solidFill>
          <a:ln/>
        </p:spPr>
      </p:sp>
      <p:sp>
        <p:nvSpPr>
          <p:cNvPr id="16" name="Text 14"/>
          <p:cNvSpPr/>
          <p:nvPr/>
        </p:nvSpPr>
        <p:spPr>
          <a:xfrm>
            <a:off x="6425032"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H2</a:t>
            </a:r>
            <a:endParaRPr lang="en-US" sz="1400" dirty="0"/>
          </a:p>
        </p:txBody>
      </p:sp>
      <p:sp>
        <p:nvSpPr>
          <p:cNvPr id="17" name="Text 15"/>
          <p:cNvSpPr/>
          <p:nvPr/>
        </p:nvSpPr>
        <p:spPr>
          <a:xfrm>
            <a:off x="7065112" y="2103120"/>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Wrong Tool Selection</a:t>
            </a:r>
            <a:endParaRPr lang="en-US" sz="1600" dirty="0"/>
          </a:p>
        </p:txBody>
      </p:sp>
      <p:sp>
        <p:nvSpPr>
          <p:cNvPr id="18" name="Text 16"/>
          <p:cNvSpPr/>
          <p:nvPr/>
        </p:nvSpPr>
        <p:spPr>
          <a:xfrm>
            <a:off x="6425032" y="2743200"/>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With 20 similar tools the LLM picks the wrong one. Accuracy in current frontier models drops sharply above roughly ten tools per server. Fix: small surfaces, distinct names, intent guidance in the prompt.</a:t>
            </a:r>
            <a:endParaRPr lang="en-US" sz="1300" dirty="0"/>
          </a:p>
        </p:txBody>
      </p:sp>
      <p:sp>
        <p:nvSpPr>
          <p:cNvPr id="19" name="Text 17"/>
          <p:cNvSpPr/>
          <p:nvPr/>
        </p:nvSpPr>
        <p:spPr>
          <a:xfrm>
            <a:off x="6425032" y="3328416"/>
            <a:ext cx="5035144" cy="274320"/>
          </a:xfrm>
          <a:prstGeom prst="rect">
            <a:avLst/>
          </a:prstGeom>
          <a:noFill/>
          <a:ln/>
        </p:spPr>
        <p:txBody>
          <a:bodyPr wrap="square" rtlCol="0" anchor="b"/>
          <a:lstStyle/>
          <a:p>
            <a:pPr indent="0" marL="0">
              <a:buNone/>
            </a:pPr>
            <a:r>
              <a:rPr lang="en-US" sz="1100" b="1" dirty="0">
                <a:solidFill>
                  <a:srgbClr val="D97706"/>
                </a:solidFill>
                <a:latin typeface="Calibri" pitchFamily="34" charset="0"/>
                <a:ea typeface="Calibri" pitchFamily="34" charset="-122"/>
                <a:cs typeface="Calibri" pitchFamily="34" charset="-120"/>
              </a:rPr>
              <a:t>Keep MCP server surfaces under 10 tools.</a:t>
            </a:r>
            <a:endParaRPr lang="en-US" sz="1100" dirty="0"/>
          </a:p>
        </p:txBody>
      </p:sp>
      <p:sp>
        <p:nvSpPr>
          <p:cNvPr id="20" name="Shape 18"/>
          <p:cNvSpPr/>
          <p:nvPr/>
        </p:nvSpPr>
        <p:spPr>
          <a:xfrm>
            <a:off x="502920" y="3895344"/>
            <a:ext cx="5492344" cy="1865376"/>
          </a:xfrm>
          <a:prstGeom prst="roundRect">
            <a:avLst>
              <a:gd name="adj" fmla="val 3922"/>
            </a:avLst>
          </a:prstGeom>
          <a:solidFill>
            <a:srgbClr val="CCFBF1"/>
          </a:solidFill>
          <a:ln w="9525">
            <a:solidFill>
              <a:srgbClr val="E2E8F0"/>
            </a:solidFill>
            <a:prstDash val="solid"/>
          </a:ln>
        </p:spPr>
      </p:sp>
      <p:sp>
        <p:nvSpPr>
          <p:cNvPr id="21" name="Shape 19"/>
          <p:cNvSpPr/>
          <p:nvPr/>
        </p:nvSpPr>
        <p:spPr>
          <a:xfrm>
            <a:off x="502920" y="3895344"/>
            <a:ext cx="5492344" cy="91440"/>
          </a:xfrm>
          <a:prstGeom prst="roundRect">
            <a:avLst>
              <a:gd name="adj" fmla="val 80000"/>
            </a:avLst>
          </a:prstGeom>
          <a:solidFill>
            <a:srgbClr val="0D9488"/>
          </a:solidFill>
          <a:ln/>
        </p:spPr>
      </p:sp>
      <p:sp>
        <p:nvSpPr>
          <p:cNvPr id="22" name="Shape 20"/>
          <p:cNvSpPr/>
          <p:nvPr/>
        </p:nvSpPr>
        <p:spPr>
          <a:xfrm>
            <a:off x="502920" y="3941064"/>
            <a:ext cx="5492344" cy="45720"/>
          </a:xfrm>
          <a:prstGeom prst="rect">
            <a:avLst/>
          </a:prstGeom>
          <a:solidFill>
            <a:srgbClr val="0D9488"/>
          </a:solidFill>
          <a:ln/>
        </p:spPr>
      </p:sp>
      <p:sp>
        <p:nvSpPr>
          <p:cNvPr id="23" name="Shape 21"/>
          <p:cNvSpPr/>
          <p:nvPr/>
        </p:nvSpPr>
        <p:spPr>
          <a:xfrm>
            <a:off x="731520" y="4169664"/>
            <a:ext cx="457200" cy="457200"/>
          </a:xfrm>
          <a:prstGeom prst="ellipse">
            <a:avLst/>
          </a:prstGeom>
          <a:solidFill>
            <a:srgbClr val="0D9488"/>
          </a:solidFill>
          <a:ln/>
        </p:spPr>
      </p:sp>
      <p:sp>
        <p:nvSpPr>
          <p:cNvPr id="24" name="Text 22"/>
          <p:cNvSpPr/>
          <p:nvPr/>
        </p:nvSpPr>
        <p:spPr>
          <a:xfrm>
            <a:off x="731520" y="4169664"/>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H3</a:t>
            </a:r>
            <a:endParaRPr lang="en-US" sz="1400" dirty="0"/>
          </a:p>
        </p:txBody>
      </p:sp>
      <p:sp>
        <p:nvSpPr>
          <p:cNvPr id="25" name="Text 23"/>
          <p:cNvSpPr/>
          <p:nvPr/>
        </p:nvSpPr>
        <p:spPr>
          <a:xfrm>
            <a:off x="1371600" y="4169664"/>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Schema Drift</a:t>
            </a:r>
            <a:endParaRPr lang="en-US" sz="1600" dirty="0"/>
          </a:p>
        </p:txBody>
      </p:sp>
      <p:sp>
        <p:nvSpPr>
          <p:cNvPr id="26" name="Text 24"/>
          <p:cNvSpPr/>
          <p:nvPr/>
        </p:nvSpPr>
        <p:spPr>
          <a:xfrm>
            <a:off x="731520" y="4809744"/>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An MCP server adds a required field; existing clients break at runtime. Fix: version the server, prefer additive-only changes, test compatibility in CI.</a:t>
            </a:r>
            <a:endParaRPr lang="en-US" sz="1300" dirty="0"/>
          </a:p>
        </p:txBody>
      </p:sp>
      <p:sp>
        <p:nvSpPr>
          <p:cNvPr id="27" name="Text 25"/>
          <p:cNvSpPr/>
          <p:nvPr/>
        </p:nvSpPr>
        <p:spPr>
          <a:xfrm>
            <a:off x="731520" y="5394960"/>
            <a:ext cx="5035144"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Treat MCP schemas like any versioned API contract.</a:t>
            </a:r>
            <a:endParaRPr lang="en-US" sz="1100" dirty="0"/>
          </a:p>
        </p:txBody>
      </p:sp>
      <p:sp>
        <p:nvSpPr>
          <p:cNvPr id="28" name="Shape 26"/>
          <p:cNvSpPr/>
          <p:nvPr/>
        </p:nvSpPr>
        <p:spPr>
          <a:xfrm>
            <a:off x="6196432" y="3895344"/>
            <a:ext cx="5492344" cy="1865376"/>
          </a:xfrm>
          <a:prstGeom prst="roundRect">
            <a:avLst>
              <a:gd name="adj" fmla="val 3922"/>
            </a:avLst>
          </a:prstGeom>
          <a:solidFill>
            <a:srgbClr val="CCFBF1"/>
          </a:solidFill>
          <a:ln w="9525">
            <a:solidFill>
              <a:srgbClr val="E2E8F0"/>
            </a:solidFill>
            <a:prstDash val="solid"/>
          </a:ln>
        </p:spPr>
      </p:sp>
      <p:sp>
        <p:nvSpPr>
          <p:cNvPr id="29" name="Shape 27"/>
          <p:cNvSpPr/>
          <p:nvPr/>
        </p:nvSpPr>
        <p:spPr>
          <a:xfrm>
            <a:off x="6196432" y="3895344"/>
            <a:ext cx="5492344" cy="91440"/>
          </a:xfrm>
          <a:prstGeom prst="roundRect">
            <a:avLst>
              <a:gd name="adj" fmla="val 80000"/>
            </a:avLst>
          </a:prstGeom>
          <a:solidFill>
            <a:srgbClr val="0D9488"/>
          </a:solidFill>
          <a:ln/>
        </p:spPr>
      </p:sp>
      <p:sp>
        <p:nvSpPr>
          <p:cNvPr id="30" name="Shape 28"/>
          <p:cNvSpPr/>
          <p:nvPr/>
        </p:nvSpPr>
        <p:spPr>
          <a:xfrm>
            <a:off x="6196432" y="3941064"/>
            <a:ext cx="5492344" cy="45720"/>
          </a:xfrm>
          <a:prstGeom prst="rect">
            <a:avLst/>
          </a:prstGeom>
          <a:solidFill>
            <a:srgbClr val="0D9488"/>
          </a:solidFill>
          <a:ln/>
        </p:spPr>
      </p:sp>
      <p:sp>
        <p:nvSpPr>
          <p:cNvPr id="31" name="Shape 29"/>
          <p:cNvSpPr/>
          <p:nvPr/>
        </p:nvSpPr>
        <p:spPr>
          <a:xfrm>
            <a:off x="6425032" y="4169664"/>
            <a:ext cx="457200" cy="457200"/>
          </a:xfrm>
          <a:prstGeom prst="ellipse">
            <a:avLst/>
          </a:prstGeom>
          <a:solidFill>
            <a:srgbClr val="0D9488"/>
          </a:solidFill>
          <a:ln/>
        </p:spPr>
      </p:sp>
      <p:sp>
        <p:nvSpPr>
          <p:cNvPr id="32" name="Text 30"/>
          <p:cNvSpPr/>
          <p:nvPr/>
        </p:nvSpPr>
        <p:spPr>
          <a:xfrm>
            <a:off x="6425032" y="4169664"/>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H4</a:t>
            </a:r>
            <a:endParaRPr lang="en-US" sz="1400" dirty="0"/>
          </a:p>
        </p:txBody>
      </p:sp>
      <p:sp>
        <p:nvSpPr>
          <p:cNvPr id="33" name="Text 31"/>
          <p:cNvSpPr/>
          <p:nvPr/>
        </p:nvSpPr>
        <p:spPr>
          <a:xfrm>
            <a:off x="7065112" y="4169664"/>
            <a:ext cx="4395064"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Chatty Tool Cost Blowup</a:t>
            </a:r>
            <a:endParaRPr lang="en-US" sz="1600" dirty="0"/>
          </a:p>
        </p:txBody>
      </p:sp>
      <p:sp>
        <p:nvSpPr>
          <p:cNvPr id="34" name="Text 32"/>
          <p:cNvSpPr/>
          <p:nvPr/>
        </p:nvSpPr>
        <p:spPr>
          <a:xfrm>
            <a:off x="6425032" y="4809744"/>
            <a:ext cx="5035144" cy="813816"/>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Each tool call grows the conversation context. A 20-step agent pays token cost scaling with the square of conversation length. Fix: paginate output, return URIs not full payloads, cache the stable prefix.</a:t>
            </a:r>
            <a:endParaRPr lang="en-US" sz="1300" dirty="0"/>
          </a:p>
        </p:txBody>
      </p:sp>
      <p:sp>
        <p:nvSpPr>
          <p:cNvPr id="35" name="Text 33"/>
          <p:cNvSpPr/>
          <p:nvPr/>
        </p:nvSpPr>
        <p:spPr>
          <a:xfrm>
            <a:off x="6425032" y="5394960"/>
            <a:ext cx="5035144"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Token cost grows quadratically with chatty calls.</a:t>
            </a:r>
            <a:endParaRPr lang="en-US" sz="1100" dirty="0"/>
          </a:p>
        </p:txBody>
      </p:sp>
      <p:sp>
        <p:nvSpPr>
          <p:cNvPr id="36" name="Shape 34"/>
          <p:cNvSpPr/>
          <p:nvPr/>
        </p:nvSpPr>
        <p:spPr>
          <a:xfrm>
            <a:off x="502920" y="5852160"/>
            <a:ext cx="11185855" cy="365760"/>
          </a:xfrm>
          <a:prstGeom prst="roundRect">
            <a:avLst>
              <a:gd name="adj" fmla="val 20000"/>
            </a:avLst>
          </a:prstGeom>
          <a:solidFill>
            <a:srgbClr val="0F172A"/>
          </a:solidFill>
          <a:ln/>
        </p:spPr>
      </p:sp>
      <p:sp>
        <p:nvSpPr>
          <p:cNvPr id="37" name="Shape 35"/>
          <p:cNvSpPr/>
          <p:nvPr/>
        </p:nvSpPr>
        <p:spPr>
          <a:xfrm>
            <a:off x="667512" y="5943600"/>
            <a:ext cx="182880" cy="182880"/>
          </a:xfrm>
          <a:prstGeom prst="ellipse">
            <a:avLst/>
          </a:prstGeom>
          <a:solidFill>
            <a:srgbClr val="D97706"/>
          </a:solidFill>
          <a:ln/>
        </p:spPr>
      </p:sp>
      <p:sp>
        <p:nvSpPr>
          <p:cNvPr id="38" name="Text 36"/>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Current research cites 40-80% task failure rates for multi-agent systems — instrument everything from day one.</a:t>
            </a:r>
            <a:endParaRPr lang="en-US" sz="1400" dirty="0"/>
          </a:p>
        </p:txBody>
      </p:sp>
      <p:sp>
        <p:nvSpPr>
          <p:cNvPr id="39" name="Text 37"/>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40" name="Text 38"/>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41" name="Text 39"/>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 / 18</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The Hyperscaler Ecosystem in 2026</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Protocol is commoditized — the moat is runtime, bridges, identity, and registries</a:t>
            </a:r>
            <a:endParaRPr lang="en-US" sz="1500" dirty="0"/>
          </a:p>
        </p:txBody>
      </p:sp>
      <p:sp>
        <p:nvSpPr>
          <p:cNvPr id="4" name="Shape 2"/>
          <p:cNvSpPr/>
          <p:nvPr/>
        </p:nvSpPr>
        <p:spPr>
          <a:xfrm>
            <a:off x="502920" y="1828800"/>
            <a:ext cx="3594506" cy="3931920"/>
          </a:xfrm>
          <a:prstGeom prst="roundRect">
            <a:avLst>
              <a:gd name="adj" fmla="val 2035"/>
            </a:avLst>
          </a:prstGeom>
          <a:solidFill>
            <a:srgbClr val="E0F2FE"/>
          </a:solidFill>
          <a:ln w="9525">
            <a:solidFill>
              <a:srgbClr val="E2E8F0"/>
            </a:solidFill>
            <a:prstDash val="solid"/>
          </a:ln>
        </p:spPr>
      </p:sp>
      <p:sp>
        <p:nvSpPr>
          <p:cNvPr id="5" name="Shape 3"/>
          <p:cNvSpPr/>
          <p:nvPr/>
        </p:nvSpPr>
        <p:spPr>
          <a:xfrm>
            <a:off x="502920" y="1828800"/>
            <a:ext cx="3594506" cy="91440"/>
          </a:xfrm>
          <a:prstGeom prst="roundRect">
            <a:avLst>
              <a:gd name="adj" fmla="val 80000"/>
            </a:avLst>
          </a:prstGeom>
          <a:solidFill>
            <a:srgbClr val="0284C7"/>
          </a:solidFill>
          <a:ln/>
        </p:spPr>
      </p:sp>
      <p:sp>
        <p:nvSpPr>
          <p:cNvPr id="6" name="Shape 4"/>
          <p:cNvSpPr/>
          <p:nvPr/>
        </p:nvSpPr>
        <p:spPr>
          <a:xfrm>
            <a:off x="502920" y="1874520"/>
            <a:ext cx="3594506" cy="45720"/>
          </a:xfrm>
          <a:prstGeom prst="rect">
            <a:avLst/>
          </a:prstGeom>
          <a:solidFill>
            <a:srgbClr val="0284C7"/>
          </a:solidFill>
          <a:ln/>
        </p:spPr>
      </p:sp>
      <p:sp>
        <p:nvSpPr>
          <p:cNvPr id="7" name="Shape 5"/>
          <p:cNvSpPr/>
          <p:nvPr/>
        </p:nvSpPr>
        <p:spPr>
          <a:xfrm>
            <a:off x="731520" y="2103120"/>
            <a:ext cx="457200" cy="457200"/>
          </a:xfrm>
          <a:prstGeom prst="ellipse">
            <a:avLst/>
          </a:prstGeom>
          <a:solidFill>
            <a:srgbClr val="0284C7"/>
          </a:solidFill>
          <a:ln/>
        </p:spPr>
      </p:sp>
      <p:sp>
        <p:nvSpPr>
          <p:cNvPr id="8" name="Text 6"/>
          <p:cNvSpPr/>
          <p:nvPr/>
        </p:nvSpPr>
        <p:spPr>
          <a:xfrm>
            <a:off x="731520"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RT</a:t>
            </a:r>
            <a:endParaRPr lang="en-US" sz="1400" dirty="0"/>
          </a:p>
        </p:txBody>
      </p:sp>
      <p:sp>
        <p:nvSpPr>
          <p:cNvPr id="9" name="Text 7"/>
          <p:cNvSpPr/>
          <p:nvPr/>
        </p:nvSpPr>
        <p:spPr>
          <a:xfrm>
            <a:off x="1371600"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Runtime Hosts</a:t>
            </a:r>
            <a:endParaRPr lang="en-US" sz="1600" dirty="0"/>
          </a:p>
        </p:txBody>
      </p:sp>
      <p:sp>
        <p:nvSpPr>
          <p:cNvPr id="10" name="Text 8"/>
          <p:cNvSpPr/>
          <p:nvPr/>
        </p:nvSpPr>
        <p:spPr>
          <a:xfrm>
            <a:off x="731520"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AWS Bedrock AgentCore Runtime — ARM64 microVMs, sticky sessions. Azure AI Foundry Agent Service — Entra identity, OBO OAuth. Google Vertex AI Agent Engine — deploy ADK agents from a Python script. Cloudflare Workers — cheapest global distribution.</a:t>
            </a:r>
            <a:endParaRPr lang="en-US" sz="1300" dirty="0"/>
          </a:p>
        </p:txBody>
      </p:sp>
      <p:sp>
        <p:nvSpPr>
          <p:cNvPr id="11" name="Text 9"/>
          <p:cNvSpPr/>
          <p:nvPr/>
        </p:nvSpPr>
        <p:spPr>
          <a:xfrm>
            <a:off x="731520" y="5394960"/>
            <a:ext cx="3137306" cy="274320"/>
          </a:xfrm>
          <a:prstGeom prst="rect">
            <a:avLst/>
          </a:prstGeom>
          <a:noFill/>
          <a:ln/>
        </p:spPr>
        <p:txBody>
          <a:bodyPr wrap="square" rtlCol="0" anchor="b"/>
          <a:lstStyle/>
          <a:p>
            <a:pPr indent="0" marL="0">
              <a:buNone/>
            </a:pPr>
            <a:r>
              <a:rPr lang="en-US" sz="1100" b="1" dirty="0">
                <a:solidFill>
                  <a:srgbClr val="0284C7"/>
                </a:solidFill>
                <a:latin typeface="Calibri" pitchFamily="34" charset="0"/>
                <a:ea typeface="Calibri" pitchFamily="34" charset="-122"/>
                <a:cs typeface="Calibri" pitchFamily="34" charset="-120"/>
              </a:rPr>
              <a:t>Pick by where your data and identity already live.</a:t>
            </a:r>
            <a:endParaRPr lang="en-US" sz="1100" dirty="0"/>
          </a:p>
        </p:txBody>
      </p:sp>
      <p:sp>
        <p:nvSpPr>
          <p:cNvPr id="12" name="Shape 10"/>
          <p:cNvSpPr/>
          <p:nvPr/>
        </p:nvSpPr>
        <p:spPr>
          <a:xfrm>
            <a:off x="4298594" y="1828800"/>
            <a:ext cx="3594506" cy="3931920"/>
          </a:xfrm>
          <a:prstGeom prst="roundRect">
            <a:avLst>
              <a:gd name="adj" fmla="val 2035"/>
            </a:avLst>
          </a:prstGeom>
          <a:solidFill>
            <a:srgbClr val="CCFBF1"/>
          </a:solidFill>
          <a:ln w="9525">
            <a:solidFill>
              <a:srgbClr val="E2E8F0"/>
            </a:solidFill>
            <a:prstDash val="solid"/>
          </a:ln>
        </p:spPr>
      </p:sp>
      <p:sp>
        <p:nvSpPr>
          <p:cNvPr id="13" name="Shape 11"/>
          <p:cNvSpPr/>
          <p:nvPr/>
        </p:nvSpPr>
        <p:spPr>
          <a:xfrm>
            <a:off x="4298594" y="1828800"/>
            <a:ext cx="3594506" cy="91440"/>
          </a:xfrm>
          <a:prstGeom prst="roundRect">
            <a:avLst>
              <a:gd name="adj" fmla="val 80000"/>
            </a:avLst>
          </a:prstGeom>
          <a:solidFill>
            <a:srgbClr val="0D9488"/>
          </a:solidFill>
          <a:ln/>
        </p:spPr>
      </p:sp>
      <p:sp>
        <p:nvSpPr>
          <p:cNvPr id="14" name="Shape 12"/>
          <p:cNvSpPr/>
          <p:nvPr/>
        </p:nvSpPr>
        <p:spPr>
          <a:xfrm>
            <a:off x="4298594" y="1874520"/>
            <a:ext cx="3594506" cy="45720"/>
          </a:xfrm>
          <a:prstGeom prst="rect">
            <a:avLst/>
          </a:prstGeom>
          <a:solidFill>
            <a:srgbClr val="0D9488"/>
          </a:solidFill>
          <a:ln/>
        </p:spPr>
      </p:sp>
      <p:sp>
        <p:nvSpPr>
          <p:cNvPr id="15" name="Shape 13"/>
          <p:cNvSpPr/>
          <p:nvPr/>
        </p:nvSpPr>
        <p:spPr>
          <a:xfrm>
            <a:off x="4527194" y="2103120"/>
            <a:ext cx="457200" cy="457200"/>
          </a:xfrm>
          <a:prstGeom prst="ellipse">
            <a:avLst/>
          </a:prstGeom>
          <a:solidFill>
            <a:srgbClr val="0D9488"/>
          </a:solidFill>
          <a:ln/>
        </p:spPr>
      </p:sp>
      <p:sp>
        <p:nvSpPr>
          <p:cNvPr id="16" name="Text 14"/>
          <p:cNvSpPr/>
          <p:nvPr/>
        </p:nvSpPr>
        <p:spPr>
          <a:xfrm>
            <a:off x="4527194"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BR</a:t>
            </a:r>
            <a:endParaRPr lang="en-US" sz="1400" dirty="0"/>
          </a:p>
        </p:txBody>
      </p:sp>
      <p:sp>
        <p:nvSpPr>
          <p:cNvPr id="17" name="Text 15"/>
          <p:cNvSpPr/>
          <p:nvPr/>
        </p:nvSpPr>
        <p:spPr>
          <a:xfrm>
            <a:off x="5167274"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API-to-MCP Bridges</a:t>
            </a:r>
            <a:endParaRPr lang="en-US" sz="1600" dirty="0"/>
          </a:p>
        </p:txBody>
      </p:sp>
      <p:sp>
        <p:nvSpPr>
          <p:cNvPr id="18" name="Text 16"/>
          <p:cNvSpPr/>
          <p:nvPr/>
        </p:nvSpPr>
        <p:spPr>
          <a:xfrm>
            <a:off x="4527194"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Google Apigee auto-exposes any managed API as an MCP server, inheriting existing rate limits. AWS Bedrock AgentCore Gateway wraps REST APIs as MCP tools. Azure API Center catalogs MCP servers with Entra governance.</a:t>
            </a:r>
            <a:endParaRPr lang="en-US" sz="1300" dirty="0"/>
          </a:p>
        </p:txBody>
      </p:sp>
      <p:sp>
        <p:nvSpPr>
          <p:cNvPr id="19" name="Text 17"/>
          <p:cNvSpPr/>
          <p:nvPr/>
        </p:nvSpPr>
        <p:spPr>
          <a:xfrm>
            <a:off x="4527194" y="5394960"/>
            <a:ext cx="3137306" cy="274320"/>
          </a:xfrm>
          <a:prstGeom prst="rect">
            <a:avLst/>
          </a:prstGeom>
          <a:noFill/>
          <a:ln/>
        </p:spPr>
        <p:txBody>
          <a:bodyPr wrap="square" rtlCol="0" anchor="b"/>
          <a:lstStyle/>
          <a:p>
            <a:pPr indent="0" marL="0">
              <a:buNone/>
            </a:pPr>
            <a:r>
              <a:rPr lang="en-US" sz="1100" b="1" dirty="0">
                <a:solidFill>
                  <a:srgbClr val="0D9488"/>
                </a:solidFill>
                <a:latin typeface="Calibri" pitchFamily="34" charset="0"/>
                <a:ea typeface="Calibri" pitchFamily="34" charset="-122"/>
                <a:cs typeface="Calibri" pitchFamily="34" charset="-120"/>
              </a:rPr>
              <a:t>Enterprise API gateway is the new MCP server factory.</a:t>
            </a:r>
            <a:endParaRPr lang="en-US" sz="1100" dirty="0"/>
          </a:p>
        </p:txBody>
      </p:sp>
      <p:sp>
        <p:nvSpPr>
          <p:cNvPr id="20" name="Shape 18"/>
          <p:cNvSpPr/>
          <p:nvPr/>
        </p:nvSpPr>
        <p:spPr>
          <a:xfrm>
            <a:off x="8094269" y="1828800"/>
            <a:ext cx="3594506" cy="3931920"/>
          </a:xfrm>
          <a:prstGeom prst="roundRect">
            <a:avLst>
              <a:gd name="adj" fmla="val 2035"/>
            </a:avLst>
          </a:prstGeom>
          <a:solidFill>
            <a:srgbClr val="FEF3C7"/>
          </a:solidFill>
          <a:ln w="9525">
            <a:solidFill>
              <a:srgbClr val="E2E8F0"/>
            </a:solidFill>
            <a:prstDash val="solid"/>
          </a:ln>
        </p:spPr>
      </p:sp>
      <p:sp>
        <p:nvSpPr>
          <p:cNvPr id="21" name="Shape 19"/>
          <p:cNvSpPr/>
          <p:nvPr/>
        </p:nvSpPr>
        <p:spPr>
          <a:xfrm>
            <a:off x="8094269" y="1828800"/>
            <a:ext cx="3594506" cy="91440"/>
          </a:xfrm>
          <a:prstGeom prst="roundRect">
            <a:avLst>
              <a:gd name="adj" fmla="val 80000"/>
            </a:avLst>
          </a:prstGeom>
          <a:solidFill>
            <a:srgbClr val="D97706"/>
          </a:solidFill>
          <a:ln/>
        </p:spPr>
      </p:sp>
      <p:sp>
        <p:nvSpPr>
          <p:cNvPr id="22" name="Shape 20"/>
          <p:cNvSpPr/>
          <p:nvPr/>
        </p:nvSpPr>
        <p:spPr>
          <a:xfrm>
            <a:off x="8094269" y="1874520"/>
            <a:ext cx="3594506" cy="45720"/>
          </a:xfrm>
          <a:prstGeom prst="rect">
            <a:avLst/>
          </a:prstGeom>
          <a:solidFill>
            <a:srgbClr val="D97706"/>
          </a:solidFill>
          <a:ln/>
        </p:spPr>
      </p:sp>
      <p:sp>
        <p:nvSpPr>
          <p:cNvPr id="23" name="Shape 21"/>
          <p:cNvSpPr/>
          <p:nvPr/>
        </p:nvSpPr>
        <p:spPr>
          <a:xfrm>
            <a:off x="8322869" y="2103120"/>
            <a:ext cx="457200" cy="457200"/>
          </a:xfrm>
          <a:prstGeom prst="ellipse">
            <a:avLst/>
          </a:prstGeom>
          <a:solidFill>
            <a:srgbClr val="D97706"/>
          </a:solidFill>
          <a:ln/>
        </p:spPr>
      </p:sp>
      <p:sp>
        <p:nvSpPr>
          <p:cNvPr id="24" name="Text 22"/>
          <p:cNvSpPr/>
          <p:nvPr/>
        </p:nvSpPr>
        <p:spPr>
          <a:xfrm>
            <a:off x="8322869" y="2103120"/>
            <a:ext cx="45720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p>
        </p:txBody>
      </p:sp>
      <p:sp>
        <p:nvSpPr>
          <p:cNvPr id="25" name="Text 23"/>
          <p:cNvSpPr/>
          <p:nvPr/>
        </p:nvSpPr>
        <p:spPr>
          <a:xfrm>
            <a:off x="8962949" y="2103120"/>
            <a:ext cx="2497226" cy="45720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Identity and Registries</a:t>
            </a:r>
            <a:endParaRPr lang="en-US" sz="1600" dirty="0"/>
          </a:p>
        </p:txBody>
      </p:sp>
      <p:sp>
        <p:nvSpPr>
          <p:cNvPr id="26" name="Text 24"/>
          <p:cNvSpPr/>
          <p:nvPr/>
        </p:nvSpPr>
        <p:spPr>
          <a:xfrm>
            <a:off x="8322869" y="2743200"/>
            <a:ext cx="3137306" cy="2880360"/>
          </a:xfrm>
          <a:prstGeom prst="rect">
            <a:avLst/>
          </a:prstGeom>
          <a:noFill/>
          <a:ln/>
        </p:spPr>
        <p:txBody>
          <a:bodyPr wrap="square" rtlCol="0" anchor="t"/>
          <a:lstStyle/>
          <a:p>
            <a:pPr indent="0" marL="0">
              <a:buNone/>
            </a:pPr>
            <a:r>
              <a:rPr lang="en-US" sz="1300" dirty="0">
                <a:solidFill>
                  <a:srgbClr val="334155"/>
                </a:solidFill>
                <a:latin typeface="Calibri" pitchFamily="34" charset="0"/>
                <a:ea typeface="Calibri" pitchFamily="34" charset="-122"/>
                <a:cs typeface="Calibri" pitchFamily="34" charset="-120"/>
              </a:rPr>
              <a:t>OAuth 2.1 + PKCE + Dynamic Client Registration is the 2026 baseline. Providers: Microsoft Entra, Auth0, Stytch. Registries: the Anthropic directory, Microsoft Foundry Add Tools, Google Vertex Agent Garden, Zapier AI Actions.</a:t>
            </a:r>
            <a:endParaRPr lang="en-US" sz="1300" dirty="0"/>
          </a:p>
        </p:txBody>
      </p:sp>
      <p:sp>
        <p:nvSpPr>
          <p:cNvPr id="27" name="Text 25"/>
          <p:cNvSpPr/>
          <p:nvPr/>
        </p:nvSpPr>
        <p:spPr>
          <a:xfrm>
            <a:off x="8322869" y="5394960"/>
            <a:ext cx="3137306" cy="274320"/>
          </a:xfrm>
          <a:prstGeom prst="rect">
            <a:avLst/>
          </a:prstGeom>
          <a:noFill/>
          <a:ln/>
        </p:spPr>
        <p:txBody>
          <a:bodyPr wrap="square" rtlCol="0" anchor="b"/>
          <a:lstStyle/>
          <a:p>
            <a:pPr indent="0" marL="0">
              <a:buNone/>
            </a:pPr>
            <a:r>
              <a:rPr lang="en-US" sz="1100" b="1" dirty="0">
                <a:solidFill>
                  <a:srgbClr val="D97706"/>
                </a:solidFill>
                <a:latin typeface="Calibri" pitchFamily="34" charset="0"/>
                <a:ea typeface="Calibri" pitchFamily="34" charset="-122"/>
                <a:cs typeface="Calibri" pitchFamily="34" charset="-120"/>
              </a:rPr>
              <a:t>OAuth 2.1 + DCR is the baseline for remote servers.</a:t>
            </a:r>
            <a:endParaRPr lang="en-US" sz="1100" dirty="0"/>
          </a:p>
        </p:txBody>
      </p:sp>
      <p:sp>
        <p:nvSpPr>
          <p:cNvPr id="28" name="Shape 26"/>
          <p:cNvSpPr/>
          <p:nvPr/>
        </p:nvSpPr>
        <p:spPr>
          <a:xfrm>
            <a:off x="502920" y="5852160"/>
            <a:ext cx="11185855" cy="365760"/>
          </a:xfrm>
          <a:prstGeom prst="roundRect">
            <a:avLst>
              <a:gd name="adj" fmla="val 20000"/>
            </a:avLst>
          </a:prstGeom>
          <a:solidFill>
            <a:srgbClr val="0F172A"/>
          </a:solidFill>
          <a:ln/>
        </p:spPr>
      </p:sp>
      <p:sp>
        <p:nvSpPr>
          <p:cNvPr id="29" name="Shape 27"/>
          <p:cNvSpPr/>
          <p:nvPr/>
        </p:nvSpPr>
        <p:spPr>
          <a:xfrm>
            <a:off x="667512" y="5943600"/>
            <a:ext cx="182880" cy="182880"/>
          </a:xfrm>
          <a:prstGeom prst="ellipse">
            <a:avLst/>
          </a:prstGeom>
          <a:solidFill>
            <a:srgbClr val="D97706"/>
          </a:solidFill>
          <a:ln/>
        </p:spPr>
      </p:sp>
      <p:sp>
        <p:nvSpPr>
          <p:cNvPr id="30" name="Text 28"/>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Linux Foundation governs both MCP and A2A — single-vendor capture is structurally off the table.</a:t>
            </a:r>
            <a:endParaRPr lang="en-US" sz="1400" dirty="0"/>
          </a:p>
        </p:txBody>
      </p:sp>
      <p:sp>
        <p:nvSpPr>
          <p:cNvPr id="31" name="Text 29"/>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32" name="Text 30"/>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33" name="Text 31"/>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 / 18</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502920"/>
            <a:ext cx="11185855" cy="640080"/>
          </a:xfrm>
          <a:prstGeom prst="rect">
            <a:avLst/>
          </a:prstGeom>
          <a:noFill/>
          <a:ln/>
        </p:spPr>
        <p:txBody>
          <a:bodyPr wrap="square"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Decision Framework — Which Contract?</a:t>
            </a:r>
            <a:endParaRPr lang="en-US" sz="3200" dirty="0"/>
          </a:p>
        </p:txBody>
      </p:sp>
      <p:sp>
        <p:nvSpPr>
          <p:cNvPr id="3" name="Text 1"/>
          <p:cNvSpPr/>
          <p:nvPr/>
        </p:nvSpPr>
        <p:spPr>
          <a:xfrm>
            <a:off x="502920" y="1143000"/>
            <a:ext cx="11185855" cy="365760"/>
          </a:xfrm>
          <a:prstGeom prst="rect">
            <a:avLst/>
          </a:prstGeom>
          <a:noFill/>
          <a:ln/>
        </p:spPr>
        <p:txBody>
          <a:bodyPr wrap="square"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Match traffic shape to protocol before writing a single line of integration code</a:t>
            </a:r>
            <a:endParaRPr lang="en-US" sz="1500" dirty="0"/>
          </a:p>
        </p:txBody>
      </p:sp>
      <p:sp>
        <p:nvSpPr>
          <p:cNvPr id="4" name="Shape 2"/>
          <p:cNvSpPr/>
          <p:nvPr/>
        </p:nvSpPr>
        <p:spPr>
          <a:xfrm>
            <a:off x="502920" y="1828800"/>
            <a:ext cx="2796464" cy="411480"/>
          </a:xfrm>
          <a:prstGeom prst="rect">
            <a:avLst/>
          </a:prstGeom>
          <a:solidFill>
            <a:srgbClr val="0F172A"/>
          </a:solidFill>
          <a:ln w="6350">
            <a:solidFill>
              <a:srgbClr val="E2E8F0"/>
            </a:solidFill>
            <a:prstDash val="solid"/>
          </a:ln>
        </p:spPr>
      </p:sp>
      <p:sp>
        <p:nvSpPr>
          <p:cNvPr id="5" name="Text 3"/>
          <p:cNvSpPr/>
          <p:nvPr/>
        </p:nvSpPr>
        <p:spPr>
          <a:xfrm>
            <a:off x="640080"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Traffic Shape</a:t>
            </a:r>
            <a:endParaRPr lang="en-US" sz="1400" dirty="0"/>
          </a:p>
        </p:txBody>
      </p:sp>
      <p:sp>
        <p:nvSpPr>
          <p:cNvPr id="6" name="Shape 4"/>
          <p:cNvSpPr/>
          <p:nvPr/>
        </p:nvSpPr>
        <p:spPr>
          <a:xfrm>
            <a:off x="3299384" y="1828800"/>
            <a:ext cx="2796464" cy="411480"/>
          </a:xfrm>
          <a:prstGeom prst="rect">
            <a:avLst/>
          </a:prstGeom>
          <a:solidFill>
            <a:srgbClr val="0F172A"/>
          </a:solidFill>
          <a:ln w="6350">
            <a:solidFill>
              <a:srgbClr val="E2E8F0"/>
            </a:solidFill>
            <a:prstDash val="solid"/>
          </a:ln>
        </p:spPr>
      </p:sp>
      <p:sp>
        <p:nvSpPr>
          <p:cNvPr id="7" name="Text 5"/>
          <p:cNvSpPr/>
          <p:nvPr/>
        </p:nvSpPr>
        <p:spPr>
          <a:xfrm>
            <a:off x="3436544"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a:t>
            </a:r>
            <a:endParaRPr lang="en-US" sz="1400" dirty="0"/>
          </a:p>
        </p:txBody>
      </p:sp>
      <p:sp>
        <p:nvSpPr>
          <p:cNvPr id="8" name="Shape 6"/>
          <p:cNvSpPr/>
          <p:nvPr/>
        </p:nvSpPr>
        <p:spPr>
          <a:xfrm>
            <a:off x="6095848" y="1828800"/>
            <a:ext cx="2796464" cy="411480"/>
          </a:xfrm>
          <a:prstGeom prst="rect">
            <a:avLst/>
          </a:prstGeom>
          <a:solidFill>
            <a:srgbClr val="0F172A"/>
          </a:solidFill>
          <a:ln w="6350">
            <a:solidFill>
              <a:srgbClr val="E2E8F0"/>
            </a:solidFill>
            <a:prstDash val="solid"/>
          </a:ln>
        </p:spPr>
      </p:sp>
      <p:sp>
        <p:nvSpPr>
          <p:cNvPr id="9" name="Text 7"/>
          <p:cNvSpPr/>
          <p:nvPr/>
        </p:nvSpPr>
        <p:spPr>
          <a:xfrm>
            <a:off x="6233008"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p>
        </p:txBody>
      </p:sp>
      <p:sp>
        <p:nvSpPr>
          <p:cNvPr id="10" name="Shape 8"/>
          <p:cNvSpPr/>
          <p:nvPr/>
        </p:nvSpPr>
        <p:spPr>
          <a:xfrm>
            <a:off x="8892311" y="1828800"/>
            <a:ext cx="2796464" cy="411480"/>
          </a:xfrm>
          <a:prstGeom prst="rect">
            <a:avLst/>
          </a:prstGeom>
          <a:solidFill>
            <a:srgbClr val="0F172A"/>
          </a:solidFill>
          <a:ln w="6350">
            <a:solidFill>
              <a:srgbClr val="E2E8F0"/>
            </a:solidFill>
            <a:prstDash val="solid"/>
          </a:ln>
        </p:spPr>
      </p:sp>
      <p:sp>
        <p:nvSpPr>
          <p:cNvPr id="11" name="Text 9"/>
          <p:cNvSpPr/>
          <p:nvPr/>
        </p:nvSpPr>
        <p:spPr>
          <a:xfrm>
            <a:off x="9029471" y="1828800"/>
            <a:ext cx="2522144" cy="41148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Common Mistake</a:t>
            </a:r>
            <a:endParaRPr lang="en-US" sz="1400" dirty="0"/>
          </a:p>
        </p:txBody>
      </p:sp>
      <p:sp>
        <p:nvSpPr>
          <p:cNvPr id="12" name="Shape 10"/>
          <p:cNvSpPr/>
          <p:nvPr/>
        </p:nvSpPr>
        <p:spPr>
          <a:xfrm>
            <a:off x="502920" y="2240280"/>
            <a:ext cx="2796464" cy="704088"/>
          </a:xfrm>
          <a:prstGeom prst="rect">
            <a:avLst/>
          </a:prstGeom>
          <a:solidFill>
            <a:srgbClr val="FFFFFF"/>
          </a:solidFill>
          <a:ln w="6350">
            <a:solidFill>
              <a:srgbClr val="E2E8F0"/>
            </a:solidFill>
            <a:prstDash val="solid"/>
          </a:ln>
        </p:spPr>
      </p:sp>
      <p:sp>
        <p:nvSpPr>
          <p:cNvPr id="13" name="Text 11"/>
          <p:cNvSpPr/>
          <p:nvPr/>
        </p:nvSpPr>
        <p:spPr>
          <a:xfrm>
            <a:off x="640080"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One-shot ask, one answer</a:t>
            </a:r>
            <a:endParaRPr lang="en-US" sz="1300" dirty="0"/>
          </a:p>
        </p:txBody>
      </p:sp>
      <p:sp>
        <p:nvSpPr>
          <p:cNvPr id="14" name="Shape 12"/>
          <p:cNvSpPr/>
          <p:nvPr/>
        </p:nvSpPr>
        <p:spPr>
          <a:xfrm>
            <a:off x="3299384" y="2240280"/>
            <a:ext cx="2796464" cy="704088"/>
          </a:xfrm>
          <a:prstGeom prst="rect">
            <a:avLst/>
          </a:prstGeom>
          <a:solidFill>
            <a:srgbClr val="FFFFFF"/>
          </a:solidFill>
          <a:ln w="6350">
            <a:solidFill>
              <a:srgbClr val="E2E8F0"/>
            </a:solidFill>
            <a:prstDash val="solid"/>
          </a:ln>
        </p:spPr>
      </p:sp>
      <p:sp>
        <p:nvSpPr>
          <p:cNvPr id="15" name="Text 13"/>
          <p:cNvSpPr/>
          <p:nvPr/>
        </p:nvSpPr>
        <p:spPr>
          <a:xfrm>
            <a:off x="3436544"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REST</a:t>
            </a:r>
            <a:endParaRPr lang="en-US" sz="1300" dirty="0"/>
          </a:p>
        </p:txBody>
      </p:sp>
      <p:sp>
        <p:nvSpPr>
          <p:cNvPr id="16" name="Shape 14"/>
          <p:cNvSpPr/>
          <p:nvPr/>
        </p:nvSpPr>
        <p:spPr>
          <a:xfrm>
            <a:off x="6095848" y="2240280"/>
            <a:ext cx="2796464" cy="704088"/>
          </a:xfrm>
          <a:prstGeom prst="rect">
            <a:avLst/>
          </a:prstGeom>
          <a:solidFill>
            <a:srgbClr val="FFFFFF"/>
          </a:solidFill>
          <a:ln w="6350">
            <a:solidFill>
              <a:srgbClr val="E2E8F0"/>
            </a:solidFill>
            <a:prstDash val="solid"/>
          </a:ln>
        </p:spPr>
      </p:sp>
      <p:sp>
        <p:nvSpPr>
          <p:cNvPr id="17" name="Text 15"/>
          <p:cNvSpPr/>
          <p:nvPr/>
        </p:nvSpPr>
        <p:spPr>
          <a:xfrm>
            <a:off x="6233008"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Stateless, cacheable, debuggable</a:t>
            </a:r>
            <a:endParaRPr lang="en-US" sz="1300" dirty="0"/>
          </a:p>
        </p:txBody>
      </p:sp>
      <p:sp>
        <p:nvSpPr>
          <p:cNvPr id="18" name="Shape 16"/>
          <p:cNvSpPr/>
          <p:nvPr/>
        </p:nvSpPr>
        <p:spPr>
          <a:xfrm>
            <a:off x="8892311" y="2240280"/>
            <a:ext cx="2796464" cy="704088"/>
          </a:xfrm>
          <a:prstGeom prst="rect">
            <a:avLst/>
          </a:prstGeom>
          <a:solidFill>
            <a:srgbClr val="FFFFFF"/>
          </a:solidFill>
          <a:ln w="6350">
            <a:solidFill>
              <a:srgbClr val="E2E8F0"/>
            </a:solidFill>
            <a:prstDash val="solid"/>
          </a:ln>
        </p:spPr>
      </p:sp>
      <p:sp>
        <p:nvSpPr>
          <p:cNvPr id="19" name="Text 17"/>
          <p:cNvSpPr/>
          <p:nvPr/>
        </p:nvSpPr>
        <p:spPr>
          <a:xfrm>
            <a:off x="9029471" y="2240280"/>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Adding streaming when polling works</a:t>
            </a:r>
            <a:endParaRPr lang="en-US" sz="1300" dirty="0"/>
          </a:p>
        </p:txBody>
      </p:sp>
      <p:sp>
        <p:nvSpPr>
          <p:cNvPr id="20" name="Shape 18"/>
          <p:cNvSpPr/>
          <p:nvPr/>
        </p:nvSpPr>
        <p:spPr>
          <a:xfrm>
            <a:off x="502920" y="2944368"/>
            <a:ext cx="2796464" cy="704088"/>
          </a:xfrm>
          <a:prstGeom prst="rect">
            <a:avLst/>
          </a:prstGeom>
          <a:solidFill>
            <a:srgbClr val="F8FAFC"/>
          </a:solidFill>
          <a:ln w="6350">
            <a:solidFill>
              <a:srgbClr val="E2E8F0"/>
            </a:solidFill>
            <a:prstDash val="solid"/>
          </a:ln>
        </p:spPr>
      </p:sp>
      <p:sp>
        <p:nvSpPr>
          <p:cNvPr id="21" name="Text 19"/>
          <p:cNvSpPr/>
          <p:nvPr/>
        </p:nvSpPr>
        <p:spPr>
          <a:xfrm>
            <a:off x="640080"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Server streams over time</a:t>
            </a:r>
            <a:endParaRPr lang="en-US" sz="1300" dirty="0"/>
          </a:p>
        </p:txBody>
      </p:sp>
      <p:sp>
        <p:nvSpPr>
          <p:cNvPr id="22" name="Shape 20"/>
          <p:cNvSpPr/>
          <p:nvPr/>
        </p:nvSpPr>
        <p:spPr>
          <a:xfrm>
            <a:off x="3299384" y="2944368"/>
            <a:ext cx="2796464" cy="704088"/>
          </a:xfrm>
          <a:prstGeom prst="rect">
            <a:avLst/>
          </a:prstGeom>
          <a:solidFill>
            <a:srgbClr val="F8FAFC"/>
          </a:solidFill>
          <a:ln w="6350">
            <a:solidFill>
              <a:srgbClr val="E2E8F0"/>
            </a:solidFill>
            <a:prstDash val="solid"/>
          </a:ln>
        </p:spPr>
      </p:sp>
      <p:sp>
        <p:nvSpPr>
          <p:cNvPr id="23" name="Text 21"/>
          <p:cNvSpPr/>
          <p:nvPr/>
        </p:nvSpPr>
        <p:spPr>
          <a:xfrm>
            <a:off x="3436544"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SSE</a:t>
            </a:r>
            <a:endParaRPr lang="en-US" sz="1300" dirty="0"/>
          </a:p>
        </p:txBody>
      </p:sp>
      <p:sp>
        <p:nvSpPr>
          <p:cNvPr id="24" name="Shape 22"/>
          <p:cNvSpPr/>
          <p:nvPr/>
        </p:nvSpPr>
        <p:spPr>
          <a:xfrm>
            <a:off x="6095848" y="2944368"/>
            <a:ext cx="2796464" cy="704088"/>
          </a:xfrm>
          <a:prstGeom prst="rect">
            <a:avLst/>
          </a:prstGeom>
          <a:solidFill>
            <a:srgbClr val="F8FAFC"/>
          </a:solidFill>
          <a:ln w="6350">
            <a:solidFill>
              <a:srgbClr val="E2E8F0"/>
            </a:solidFill>
            <a:prstDash val="solid"/>
          </a:ln>
        </p:spPr>
      </p:sp>
      <p:sp>
        <p:nvSpPr>
          <p:cNvPr id="25" name="Text 23"/>
          <p:cNvSpPr/>
          <p:nvPr/>
        </p:nvSpPr>
        <p:spPr>
          <a:xfrm>
            <a:off x="6233008"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Proxy-friendly, auto-reconnect</a:t>
            </a:r>
            <a:endParaRPr lang="en-US" sz="1300" dirty="0"/>
          </a:p>
        </p:txBody>
      </p:sp>
      <p:sp>
        <p:nvSpPr>
          <p:cNvPr id="26" name="Shape 24"/>
          <p:cNvSpPr/>
          <p:nvPr/>
        </p:nvSpPr>
        <p:spPr>
          <a:xfrm>
            <a:off x="8892311" y="2944368"/>
            <a:ext cx="2796464" cy="704088"/>
          </a:xfrm>
          <a:prstGeom prst="rect">
            <a:avLst/>
          </a:prstGeom>
          <a:solidFill>
            <a:srgbClr val="F8FAFC"/>
          </a:solidFill>
          <a:ln w="6350">
            <a:solidFill>
              <a:srgbClr val="E2E8F0"/>
            </a:solidFill>
            <a:prstDash val="solid"/>
          </a:ln>
        </p:spPr>
      </p:sp>
      <p:sp>
        <p:nvSpPr>
          <p:cNvPr id="27" name="Text 25"/>
          <p:cNvSpPr/>
          <p:nvPr/>
        </p:nvSpPr>
        <p:spPr>
          <a:xfrm>
            <a:off x="9029471" y="2944368"/>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WebSocket for one-way push</a:t>
            </a:r>
            <a:endParaRPr lang="en-US" sz="1300" dirty="0"/>
          </a:p>
        </p:txBody>
      </p:sp>
      <p:sp>
        <p:nvSpPr>
          <p:cNvPr id="28" name="Shape 26"/>
          <p:cNvSpPr/>
          <p:nvPr/>
        </p:nvSpPr>
        <p:spPr>
          <a:xfrm>
            <a:off x="502920" y="3648456"/>
            <a:ext cx="2796464" cy="704088"/>
          </a:xfrm>
          <a:prstGeom prst="rect">
            <a:avLst/>
          </a:prstGeom>
          <a:solidFill>
            <a:srgbClr val="FFFFFF"/>
          </a:solidFill>
          <a:ln w="6350">
            <a:solidFill>
              <a:srgbClr val="E2E8F0"/>
            </a:solidFill>
            <a:prstDash val="solid"/>
          </a:ln>
        </p:spPr>
      </p:sp>
      <p:sp>
        <p:nvSpPr>
          <p:cNvPr id="29" name="Text 27"/>
          <p:cNvSpPr/>
          <p:nvPr/>
        </p:nvSpPr>
        <p:spPr>
          <a:xfrm>
            <a:off x="640080"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Both sides talk continuously</a:t>
            </a:r>
            <a:endParaRPr lang="en-US" sz="1300" dirty="0"/>
          </a:p>
        </p:txBody>
      </p:sp>
      <p:sp>
        <p:nvSpPr>
          <p:cNvPr id="30" name="Shape 28"/>
          <p:cNvSpPr/>
          <p:nvPr/>
        </p:nvSpPr>
        <p:spPr>
          <a:xfrm>
            <a:off x="3299384" y="3648456"/>
            <a:ext cx="2796464" cy="704088"/>
          </a:xfrm>
          <a:prstGeom prst="rect">
            <a:avLst/>
          </a:prstGeom>
          <a:solidFill>
            <a:srgbClr val="FFFFFF"/>
          </a:solidFill>
          <a:ln w="6350">
            <a:solidFill>
              <a:srgbClr val="E2E8F0"/>
            </a:solidFill>
            <a:prstDash val="solid"/>
          </a:ln>
        </p:spPr>
      </p:sp>
      <p:sp>
        <p:nvSpPr>
          <p:cNvPr id="31" name="Text 29"/>
          <p:cNvSpPr/>
          <p:nvPr/>
        </p:nvSpPr>
        <p:spPr>
          <a:xfrm>
            <a:off x="3436544"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WebSocket</a:t>
            </a:r>
            <a:endParaRPr lang="en-US" sz="1300" dirty="0"/>
          </a:p>
        </p:txBody>
      </p:sp>
      <p:sp>
        <p:nvSpPr>
          <p:cNvPr id="32" name="Shape 30"/>
          <p:cNvSpPr/>
          <p:nvPr/>
        </p:nvSpPr>
        <p:spPr>
          <a:xfrm>
            <a:off x="6095848" y="3648456"/>
            <a:ext cx="2796464" cy="704088"/>
          </a:xfrm>
          <a:prstGeom prst="rect">
            <a:avLst/>
          </a:prstGeom>
          <a:solidFill>
            <a:srgbClr val="FFFFFF"/>
          </a:solidFill>
          <a:ln w="6350">
            <a:solidFill>
              <a:srgbClr val="E2E8F0"/>
            </a:solidFill>
            <a:prstDash val="solid"/>
          </a:ln>
        </p:spPr>
      </p:sp>
      <p:sp>
        <p:nvSpPr>
          <p:cNvPr id="33" name="Text 31"/>
          <p:cNvSpPr/>
          <p:nvPr/>
        </p:nvSpPr>
        <p:spPr>
          <a:xfrm>
            <a:off x="6233008"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Full-duplex, low overhead</a:t>
            </a:r>
            <a:endParaRPr lang="en-US" sz="1300" dirty="0"/>
          </a:p>
        </p:txBody>
      </p:sp>
      <p:sp>
        <p:nvSpPr>
          <p:cNvPr id="34" name="Shape 32"/>
          <p:cNvSpPr/>
          <p:nvPr/>
        </p:nvSpPr>
        <p:spPr>
          <a:xfrm>
            <a:off x="8892311" y="3648456"/>
            <a:ext cx="2796464" cy="704088"/>
          </a:xfrm>
          <a:prstGeom prst="rect">
            <a:avLst/>
          </a:prstGeom>
          <a:solidFill>
            <a:srgbClr val="FFFFFF"/>
          </a:solidFill>
          <a:ln w="6350">
            <a:solidFill>
              <a:srgbClr val="E2E8F0"/>
            </a:solidFill>
            <a:prstDash val="solid"/>
          </a:ln>
        </p:spPr>
      </p:sp>
      <p:sp>
        <p:nvSpPr>
          <p:cNvPr id="35" name="Text 33"/>
          <p:cNvSpPr/>
          <p:nvPr/>
        </p:nvSpPr>
        <p:spPr>
          <a:xfrm>
            <a:off x="9029471" y="3648456"/>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REST polling for realtime audio</a:t>
            </a:r>
            <a:endParaRPr lang="en-US" sz="1300" dirty="0"/>
          </a:p>
        </p:txBody>
      </p:sp>
      <p:sp>
        <p:nvSpPr>
          <p:cNvPr id="36" name="Shape 34"/>
          <p:cNvSpPr/>
          <p:nvPr/>
        </p:nvSpPr>
        <p:spPr>
          <a:xfrm>
            <a:off x="502920" y="4352544"/>
            <a:ext cx="2796464" cy="704088"/>
          </a:xfrm>
          <a:prstGeom prst="rect">
            <a:avLst/>
          </a:prstGeom>
          <a:solidFill>
            <a:srgbClr val="F8FAFC"/>
          </a:solidFill>
          <a:ln w="6350">
            <a:solidFill>
              <a:srgbClr val="E2E8F0"/>
            </a:solidFill>
            <a:prstDash val="solid"/>
          </a:ln>
        </p:spPr>
      </p:sp>
      <p:sp>
        <p:nvSpPr>
          <p:cNvPr id="37" name="Text 35"/>
          <p:cNvSpPr/>
          <p:nvPr/>
        </p:nvSpPr>
        <p:spPr>
          <a:xfrm>
            <a:off x="640080"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Decouple sender from receiver</a:t>
            </a:r>
            <a:endParaRPr lang="en-US" sz="1300" dirty="0"/>
          </a:p>
        </p:txBody>
      </p:sp>
      <p:sp>
        <p:nvSpPr>
          <p:cNvPr id="38" name="Shape 36"/>
          <p:cNvSpPr/>
          <p:nvPr/>
        </p:nvSpPr>
        <p:spPr>
          <a:xfrm>
            <a:off x="3299384" y="4352544"/>
            <a:ext cx="2796464" cy="704088"/>
          </a:xfrm>
          <a:prstGeom prst="rect">
            <a:avLst/>
          </a:prstGeom>
          <a:solidFill>
            <a:srgbClr val="F8FAFC"/>
          </a:solidFill>
          <a:ln w="6350">
            <a:solidFill>
              <a:srgbClr val="E2E8F0"/>
            </a:solidFill>
            <a:prstDash val="solid"/>
          </a:ln>
        </p:spPr>
      </p:sp>
      <p:sp>
        <p:nvSpPr>
          <p:cNvPr id="39" name="Text 37"/>
          <p:cNvSpPr/>
          <p:nvPr/>
        </p:nvSpPr>
        <p:spPr>
          <a:xfrm>
            <a:off x="3436544"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Broker</a:t>
            </a:r>
            <a:endParaRPr lang="en-US" sz="1300" dirty="0"/>
          </a:p>
        </p:txBody>
      </p:sp>
      <p:sp>
        <p:nvSpPr>
          <p:cNvPr id="40" name="Shape 38"/>
          <p:cNvSpPr/>
          <p:nvPr/>
        </p:nvSpPr>
        <p:spPr>
          <a:xfrm>
            <a:off x="6095848" y="4352544"/>
            <a:ext cx="2796464" cy="704088"/>
          </a:xfrm>
          <a:prstGeom prst="rect">
            <a:avLst/>
          </a:prstGeom>
          <a:solidFill>
            <a:srgbClr val="F8FAFC"/>
          </a:solidFill>
          <a:ln w="6350">
            <a:solidFill>
              <a:srgbClr val="E2E8F0"/>
            </a:solidFill>
            <a:prstDash val="solid"/>
          </a:ln>
        </p:spPr>
      </p:sp>
      <p:sp>
        <p:nvSpPr>
          <p:cNvPr id="41" name="Text 39"/>
          <p:cNvSpPr/>
          <p:nvPr/>
        </p:nvSpPr>
        <p:spPr>
          <a:xfrm>
            <a:off x="6233008"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Free fan-out, retries, DLQs</a:t>
            </a:r>
            <a:endParaRPr lang="en-US" sz="1300" dirty="0"/>
          </a:p>
        </p:txBody>
      </p:sp>
      <p:sp>
        <p:nvSpPr>
          <p:cNvPr id="42" name="Shape 40"/>
          <p:cNvSpPr/>
          <p:nvPr/>
        </p:nvSpPr>
        <p:spPr>
          <a:xfrm>
            <a:off x="8892311" y="4352544"/>
            <a:ext cx="2796464" cy="704088"/>
          </a:xfrm>
          <a:prstGeom prst="rect">
            <a:avLst/>
          </a:prstGeom>
          <a:solidFill>
            <a:srgbClr val="F8FAFC"/>
          </a:solidFill>
          <a:ln w="6350">
            <a:solidFill>
              <a:srgbClr val="E2E8F0"/>
            </a:solidFill>
            <a:prstDash val="solid"/>
          </a:ln>
        </p:spPr>
      </p:sp>
      <p:sp>
        <p:nvSpPr>
          <p:cNvPr id="43" name="Text 41"/>
          <p:cNvSpPr/>
          <p:nvPr/>
        </p:nvSpPr>
        <p:spPr>
          <a:xfrm>
            <a:off x="9029471" y="4352544"/>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Chaining webhooks instead of a queue</a:t>
            </a:r>
            <a:endParaRPr lang="en-US" sz="1300" dirty="0"/>
          </a:p>
        </p:txBody>
      </p:sp>
      <p:sp>
        <p:nvSpPr>
          <p:cNvPr id="44" name="Shape 42"/>
          <p:cNvSpPr/>
          <p:nvPr/>
        </p:nvSpPr>
        <p:spPr>
          <a:xfrm>
            <a:off x="502920" y="5056632"/>
            <a:ext cx="2796464" cy="704088"/>
          </a:xfrm>
          <a:prstGeom prst="rect">
            <a:avLst/>
          </a:prstGeom>
          <a:solidFill>
            <a:srgbClr val="FFFFFF"/>
          </a:solidFill>
          <a:ln w="6350">
            <a:solidFill>
              <a:srgbClr val="E2E8F0"/>
            </a:solidFill>
            <a:prstDash val="solid"/>
          </a:ln>
        </p:spPr>
      </p:sp>
      <p:sp>
        <p:nvSpPr>
          <p:cNvPr id="45" name="Text 43"/>
          <p:cNvSpPr/>
          <p:nvPr/>
        </p:nvSpPr>
        <p:spPr>
          <a:xfrm>
            <a:off x="640080"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LLM calls your service</a:t>
            </a:r>
            <a:endParaRPr lang="en-US" sz="1300" dirty="0"/>
          </a:p>
        </p:txBody>
      </p:sp>
      <p:sp>
        <p:nvSpPr>
          <p:cNvPr id="46" name="Shape 44"/>
          <p:cNvSpPr/>
          <p:nvPr/>
        </p:nvSpPr>
        <p:spPr>
          <a:xfrm>
            <a:off x="3299384" y="5056632"/>
            <a:ext cx="2796464" cy="704088"/>
          </a:xfrm>
          <a:prstGeom prst="rect">
            <a:avLst/>
          </a:prstGeom>
          <a:solidFill>
            <a:srgbClr val="FFFFFF"/>
          </a:solidFill>
          <a:ln w="6350">
            <a:solidFill>
              <a:srgbClr val="E2E8F0"/>
            </a:solidFill>
            <a:prstDash val="solid"/>
          </a:ln>
        </p:spPr>
      </p:sp>
      <p:sp>
        <p:nvSpPr>
          <p:cNvPr id="47" name="Text 45"/>
          <p:cNvSpPr/>
          <p:nvPr/>
        </p:nvSpPr>
        <p:spPr>
          <a:xfrm>
            <a:off x="3436544"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MCP</a:t>
            </a:r>
            <a:endParaRPr lang="en-US" sz="1300" dirty="0"/>
          </a:p>
        </p:txBody>
      </p:sp>
      <p:sp>
        <p:nvSpPr>
          <p:cNvPr id="48" name="Shape 46"/>
          <p:cNvSpPr/>
          <p:nvPr/>
        </p:nvSpPr>
        <p:spPr>
          <a:xfrm>
            <a:off x="6095848" y="5056632"/>
            <a:ext cx="2796464" cy="704088"/>
          </a:xfrm>
          <a:prstGeom prst="rect">
            <a:avLst/>
          </a:prstGeom>
          <a:solidFill>
            <a:srgbClr val="FFFFFF"/>
          </a:solidFill>
          <a:ln w="6350">
            <a:solidFill>
              <a:srgbClr val="E2E8F0"/>
            </a:solidFill>
            <a:prstDash val="solid"/>
          </a:ln>
        </p:spPr>
      </p:sp>
      <p:sp>
        <p:nvSpPr>
          <p:cNvPr id="49" name="Text 47"/>
          <p:cNvSpPr/>
          <p:nvPr/>
        </p:nvSpPr>
        <p:spPr>
          <a:xfrm>
            <a:off x="6233008"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In-band discovery, M+N cost</a:t>
            </a:r>
            <a:endParaRPr lang="en-US" sz="1300" dirty="0"/>
          </a:p>
        </p:txBody>
      </p:sp>
      <p:sp>
        <p:nvSpPr>
          <p:cNvPr id="50" name="Shape 48"/>
          <p:cNvSpPr/>
          <p:nvPr/>
        </p:nvSpPr>
        <p:spPr>
          <a:xfrm>
            <a:off x="8892311" y="5056632"/>
            <a:ext cx="2796464" cy="704088"/>
          </a:xfrm>
          <a:prstGeom prst="rect">
            <a:avLst/>
          </a:prstGeom>
          <a:solidFill>
            <a:srgbClr val="FFFFFF"/>
          </a:solidFill>
          <a:ln w="6350">
            <a:solidFill>
              <a:srgbClr val="E2E8F0"/>
            </a:solidFill>
            <a:prstDash val="solid"/>
          </a:ln>
        </p:spPr>
      </p:sp>
      <p:sp>
        <p:nvSpPr>
          <p:cNvPr id="51" name="Text 49"/>
          <p:cNvSpPr/>
          <p:nvPr/>
        </p:nvSpPr>
        <p:spPr>
          <a:xfrm>
            <a:off x="9029471" y="5056632"/>
            <a:ext cx="2522144" cy="704088"/>
          </a:xfrm>
          <a:prstGeom prst="rect">
            <a:avLst/>
          </a:prstGeom>
          <a:noFill/>
          <a:ln/>
        </p:spPr>
        <p:txBody>
          <a:bodyPr wrap="square"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Custom REST adapter per tool pair</a:t>
            </a:r>
            <a:endParaRPr lang="en-US" sz="1300" dirty="0"/>
          </a:p>
        </p:txBody>
      </p:sp>
      <p:sp>
        <p:nvSpPr>
          <p:cNvPr id="52" name="Shape 50"/>
          <p:cNvSpPr/>
          <p:nvPr/>
        </p:nvSpPr>
        <p:spPr>
          <a:xfrm>
            <a:off x="502920" y="5852160"/>
            <a:ext cx="11185855" cy="365760"/>
          </a:xfrm>
          <a:prstGeom prst="roundRect">
            <a:avLst>
              <a:gd name="adj" fmla="val 20000"/>
            </a:avLst>
          </a:prstGeom>
          <a:solidFill>
            <a:srgbClr val="0F172A"/>
          </a:solidFill>
          <a:ln/>
        </p:spPr>
      </p:sp>
      <p:sp>
        <p:nvSpPr>
          <p:cNvPr id="53" name="Shape 51"/>
          <p:cNvSpPr/>
          <p:nvPr/>
        </p:nvSpPr>
        <p:spPr>
          <a:xfrm>
            <a:off x="667512" y="5943600"/>
            <a:ext cx="182880" cy="182880"/>
          </a:xfrm>
          <a:prstGeom prst="ellipse">
            <a:avLst/>
          </a:prstGeom>
          <a:solidFill>
            <a:srgbClr val="D97706"/>
          </a:solidFill>
          <a:ln/>
        </p:spPr>
      </p:sp>
      <p:sp>
        <p:nvSpPr>
          <p:cNvPr id="54" name="Text 52"/>
          <p:cNvSpPr/>
          <p:nvPr/>
        </p:nvSpPr>
        <p:spPr>
          <a:xfrm>
            <a:off x="1005840" y="5852160"/>
            <a:ext cx="10545775" cy="36576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MCP and A2A layer on top of the seven styles — they do not replace the plumbing beneath them.</a:t>
            </a:r>
            <a:endParaRPr lang="en-US" sz="1400" dirty="0"/>
          </a:p>
        </p:txBody>
      </p:sp>
      <p:sp>
        <p:nvSpPr>
          <p:cNvPr id="55" name="Text 53"/>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334155"/>
                </a:solidFill>
                <a:latin typeface="Georgia" pitchFamily="34" charset="0"/>
                <a:ea typeface="Georgia" pitchFamily="34" charset="-122"/>
                <a:cs typeface="Georgia" pitchFamily="34" charset="-120"/>
              </a:rPr>
              <a:t>Kamaljeet S Kharbanda</a:t>
            </a:r>
            <a:endParaRPr lang="en-US" sz="1100" dirty="0"/>
          </a:p>
        </p:txBody>
      </p:sp>
      <p:sp>
        <p:nvSpPr>
          <p:cNvPr id="56" name="Text 54"/>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57" name="Text 55"/>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 / 18</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02920" y="731520"/>
            <a:ext cx="7315200" cy="365760"/>
          </a:xfrm>
          <a:prstGeom prst="rect">
            <a:avLst/>
          </a:prstGeom>
          <a:noFill/>
          <a:ln/>
        </p:spPr>
        <p:txBody>
          <a:bodyPr wrap="square" rtlCol="0" anchor="ctr"/>
          <a:lstStyle/>
          <a:p>
            <a:pPr indent="0" marL="0">
              <a:buNone/>
            </a:pPr>
            <a:r>
              <a:rPr lang="en-US" sz="1400" b="1" spc="600" kern="0" dirty="0">
                <a:solidFill>
                  <a:srgbClr val="0EA5E9"/>
                </a:solidFill>
                <a:latin typeface="Calibri" pitchFamily="34" charset="0"/>
                <a:ea typeface="Calibri" pitchFamily="34" charset="-122"/>
                <a:cs typeface="Calibri" pitchFamily="34" charset="-120"/>
              </a:rPr>
              <a:t>KEY TAKEAWAYS</a:t>
            </a:r>
            <a:endParaRPr lang="en-US" sz="1400" dirty="0"/>
          </a:p>
        </p:txBody>
      </p:sp>
      <p:sp>
        <p:nvSpPr>
          <p:cNvPr id="3" name="Text 1"/>
          <p:cNvSpPr/>
          <p:nvPr/>
        </p:nvSpPr>
        <p:spPr>
          <a:xfrm>
            <a:off x="502920" y="1371600"/>
            <a:ext cx="11185855" cy="100584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Five Things Worth Keeping</a:t>
            </a:r>
            <a:endParaRPr lang="en-US" sz="4400" dirty="0"/>
          </a:p>
        </p:txBody>
      </p:sp>
      <p:sp>
        <p:nvSpPr>
          <p:cNvPr id="4" name="Text 2"/>
          <p:cNvSpPr/>
          <p:nvPr/>
        </p:nvSpPr>
        <p:spPr>
          <a:xfrm>
            <a:off x="502920" y="2743200"/>
            <a:ext cx="731520" cy="566928"/>
          </a:xfrm>
          <a:prstGeom prst="rect">
            <a:avLst/>
          </a:prstGeom>
          <a:noFill/>
          <a:ln/>
        </p:spPr>
        <p:txBody>
          <a:bodyPr wrap="square" rtlCol="0" anchor="t"/>
          <a:lstStyle/>
          <a:p>
            <a:pPr indent="0" marL="0">
              <a:buNone/>
            </a:pPr>
            <a:r>
              <a:rPr lang="en-US" sz="2800" b="1" dirty="0">
                <a:solidFill>
                  <a:srgbClr val="0EA5E9"/>
                </a:solidFill>
                <a:latin typeface="Calibri" pitchFamily="34" charset="0"/>
                <a:ea typeface="Calibri" pitchFamily="34" charset="-122"/>
                <a:cs typeface="Calibri" pitchFamily="34" charset="-120"/>
              </a:rPr>
              <a:t>01</a:t>
            </a:r>
            <a:endParaRPr lang="en-US" sz="2800" dirty="0"/>
          </a:p>
        </p:txBody>
      </p:sp>
      <p:sp>
        <p:nvSpPr>
          <p:cNvPr id="5" name="Text 3"/>
          <p:cNvSpPr/>
          <p:nvPr/>
        </p:nvSpPr>
        <p:spPr>
          <a:xfrm>
            <a:off x="1325880" y="2743200"/>
            <a:ext cx="10362895" cy="566928"/>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API styles are communication shapes. Pick the shape your traffic has and the style follows. Forcing fit produces working code and broken architectures.</a:t>
            </a:r>
            <a:endParaRPr lang="en-US" sz="1600" dirty="0"/>
          </a:p>
        </p:txBody>
      </p:sp>
      <p:sp>
        <p:nvSpPr>
          <p:cNvPr id="6" name="Text 4"/>
          <p:cNvSpPr/>
          <p:nvPr/>
        </p:nvSpPr>
        <p:spPr>
          <a:xfrm>
            <a:off x="502920" y="3401568"/>
            <a:ext cx="731520" cy="566928"/>
          </a:xfrm>
          <a:prstGeom prst="rect">
            <a:avLst/>
          </a:prstGeom>
          <a:noFill/>
          <a:ln/>
        </p:spPr>
        <p:txBody>
          <a:bodyPr wrap="square" rtlCol="0" anchor="t"/>
          <a:lstStyle/>
          <a:p>
            <a:pPr indent="0" marL="0">
              <a:buNone/>
            </a:pPr>
            <a:r>
              <a:rPr lang="en-US" sz="2800" b="1" dirty="0">
                <a:solidFill>
                  <a:srgbClr val="0EA5E9"/>
                </a:solidFill>
                <a:latin typeface="Calibri" pitchFamily="34" charset="0"/>
                <a:ea typeface="Calibri" pitchFamily="34" charset="-122"/>
                <a:cs typeface="Calibri" pitchFamily="34" charset="-120"/>
              </a:rPr>
              <a:t>02</a:t>
            </a:r>
            <a:endParaRPr lang="en-US" sz="2800" dirty="0"/>
          </a:p>
        </p:txBody>
      </p:sp>
      <p:sp>
        <p:nvSpPr>
          <p:cNvPr id="7" name="Text 5"/>
          <p:cNvSpPr/>
          <p:nvPr/>
        </p:nvSpPr>
        <p:spPr>
          <a:xfrm>
            <a:off x="1325880" y="3401568"/>
            <a:ext cx="10362895" cy="566928"/>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Real AI systems compose styles. REST out plus SSE back for chat. WebSocket for voice. gRPC for internal serving. Broker for agent fanout. Nothing in production is single-style.</a:t>
            </a:r>
            <a:endParaRPr lang="en-US" sz="1600" dirty="0"/>
          </a:p>
        </p:txBody>
      </p:sp>
      <p:sp>
        <p:nvSpPr>
          <p:cNvPr id="8" name="Text 6"/>
          <p:cNvSpPr/>
          <p:nvPr/>
        </p:nvSpPr>
        <p:spPr>
          <a:xfrm>
            <a:off x="502920" y="4059936"/>
            <a:ext cx="731520" cy="566928"/>
          </a:xfrm>
          <a:prstGeom prst="rect">
            <a:avLst/>
          </a:prstGeom>
          <a:noFill/>
          <a:ln/>
        </p:spPr>
        <p:txBody>
          <a:bodyPr wrap="square" rtlCol="0" anchor="t"/>
          <a:lstStyle/>
          <a:p>
            <a:pPr indent="0" marL="0">
              <a:buNone/>
            </a:pPr>
            <a:r>
              <a:rPr lang="en-US" sz="2800" b="1" dirty="0">
                <a:solidFill>
                  <a:srgbClr val="0EA5E9"/>
                </a:solidFill>
                <a:latin typeface="Calibri" pitchFamily="34" charset="0"/>
                <a:ea typeface="Calibri" pitchFamily="34" charset="-122"/>
                <a:cs typeface="Calibri" pitchFamily="34" charset="-120"/>
              </a:rPr>
              <a:t>03</a:t>
            </a:r>
            <a:endParaRPr lang="en-US" sz="2800" dirty="0"/>
          </a:p>
        </p:txBody>
      </p:sp>
      <p:sp>
        <p:nvSpPr>
          <p:cNvPr id="9" name="Text 7"/>
          <p:cNvSpPr/>
          <p:nvPr/>
        </p:nvSpPr>
        <p:spPr>
          <a:xfrm>
            <a:off x="1325880" y="4059936"/>
            <a:ext cx="10362895" cy="566928"/>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MCP is not a new API style. It is JSON-RPC 2.0 over stdio or HTTP+SSE with a semantic layer on top — tools, resources, prompts, in-band discovery. Same plumbing, new vocabulary.</a:t>
            </a:r>
            <a:endParaRPr lang="en-US" sz="1600" dirty="0"/>
          </a:p>
        </p:txBody>
      </p:sp>
      <p:sp>
        <p:nvSpPr>
          <p:cNvPr id="10" name="Text 8"/>
          <p:cNvSpPr/>
          <p:nvPr/>
        </p:nvSpPr>
        <p:spPr>
          <a:xfrm>
            <a:off x="502920" y="4718304"/>
            <a:ext cx="731520" cy="566928"/>
          </a:xfrm>
          <a:prstGeom prst="rect">
            <a:avLst/>
          </a:prstGeom>
          <a:noFill/>
          <a:ln/>
        </p:spPr>
        <p:txBody>
          <a:bodyPr wrap="square" rtlCol="0" anchor="t"/>
          <a:lstStyle/>
          <a:p>
            <a:pPr indent="0" marL="0">
              <a:buNone/>
            </a:pPr>
            <a:r>
              <a:rPr lang="en-US" sz="2800" b="1" dirty="0">
                <a:solidFill>
                  <a:srgbClr val="0EA5E9"/>
                </a:solidFill>
                <a:latin typeface="Calibri" pitchFamily="34" charset="0"/>
                <a:ea typeface="Calibri" pitchFamily="34" charset="-122"/>
                <a:cs typeface="Calibri" pitchFamily="34" charset="-120"/>
              </a:rPr>
              <a:t>04</a:t>
            </a:r>
            <a:endParaRPr lang="en-US" sz="2800" dirty="0"/>
          </a:p>
        </p:txBody>
      </p:sp>
      <p:sp>
        <p:nvSpPr>
          <p:cNvPr id="11" name="Text 9"/>
          <p:cNvSpPr/>
          <p:nvPr/>
        </p:nvSpPr>
        <p:spPr>
          <a:xfrm>
            <a:off x="1325880" y="4718304"/>
            <a:ext cx="10362895" cy="566928"/>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A2A is MCP's sibling for agent-to-agent work. It adds stateful tasks, lifecycle states, and artifacts — the primitives MCP leaves out. Real systems need both, and the two compose.</a:t>
            </a:r>
            <a:endParaRPr lang="en-US" sz="1600" dirty="0"/>
          </a:p>
        </p:txBody>
      </p:sp>
      <p:sp>
        <p:nvSpPr>
          <p:cNvPr id="12" name="Text 10"/>
          <p:cNvSpPr/>
          <p:nvPr/>
        </p:nvSpPr>
        <p:spPr>
          <a:xfrm>
            <a:off x="502920" y="5376672"/>
            <a:ext cx="731520" cy="566928"/>
          </a:xfrm>
          <a:prstGeom prst="rect">
            <a:avLst/>
          </a:prstGeom>
          <a:noFill/>
          <a:ln/>
        </p:spPr>
        <p:txBody>
          <a:bodyPr wrap="square" rtlCol="0" anchor="t"/>
          <a:lstStyle/>
          <a:p>
            <a:pPr indent="0" marL="0">
              <a:buNone/>
            </a:pPr>
            <a:r>
              <a:rPr lang="en-US" sz="2800" b="1" dirty="0">
                <a:solidFill>
                  <a:srgbClr val="0EA5E9"/>
                </a:solidFill>
                <a:latin typeface="Calibri" pitchFamily="34" charset="0"/>
                <a:ea typeface="Calibri" pitchFamily="34" charset="-122"/>
                <a:cs typeface="Calibri" pitchFamily="34" charset="-120"/>
              </a:rPr>
              <a:t>05</a:t>
            </a:r>
            <a:endParaRPr lang="en-US" sz="2800" dirty="0"/>
          </a:p>
        </p:txBody>
      </p:sp>
      <p:sp>
        <p:nvSpPr>
          <p:cNvPr id="13" name="Text 11"/>
          <p:cNvSpPr/>
          <p:nvPr/>
        </p:nvSpPr>
        <p:spPr>
          <a:xfrm>
            <a:off x="1325880" y="5376672"/>
            <a:ext cx="10362895" cy="566928"/>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Dynamic in-band discovery is the architectural shift. OpenAPI is read by humans before code ships. MCP and A2A contracts are introspected by models at runtime. That eliminates the glue layer.</a:t>
            </a:r>
            <a:endParaRPr lang="en-US" sz="1600" dirty="0"/>
          </a:p>
        </p:txBody>
      </p:sp>
      <p:sp>
        <p:nvSpPr>
          <p:cNvPr id="14" name="Text 12"/>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FFFFFF"/>
                </a:solidFill>
                <a:latin typeface="Georgia" pitchFamily="34" charset="0"/>
                <a:ea typeface="Georgia" pitchFamily="34" charset="-122"/>
                <a:cs typeface="Georgia" pitchFamily="34" charset="-120"/>
              </a:rPr>
              <a:t>Kamaljeet S Kharbanda</a:t>
            </a:r>
            <a:endParaRPr lang="en-US" sz="1100" dirty="0"/>
          </a:p>
        </p:txBody>
      </p:sp>
      <p:sp>
        <p:nvSpPr>
          <p:cNvPr id="15" name="Text 13"/>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16" name="Text 14"/>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17 / 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02920" y="822960"/>
            <a:ext cx="7315200" cy="320040"/>
          </a:xfrm>
          <a:prstGeom prst="rect">
            <a:avLst/>
          </a:prstGeom>
          <a:noFill/>
          <a:ln/>
        </p:spPr>
        <p:txBody>
          <a:bodyPr wrap="square" rtlCol="0" anchor="ctr"/>
          <a:lstStyle/>
          <a:p>
            <a:pPr indent="0" marL="0">
              <a:buNone/>
            </a:pPr>
            <a:r>
              <a:rPr lang="en-US" sz="1400" b="1" spc="600" kern="0" dirty="0">
                <a:solidFill>
                  <a:srgbClr val="7C3AED"/>
                </a:solidFill>
                <a:latin typeface="Calibri" pitchFamily="34" charset="0"/>
                <a:ea typeface="Calibri" pitchFamily="34" charset="-122"/>
                <a:cs typeface="Calibri" pitchFamily="34" charset="-120"/>
              </a:rPr>
              <a:t>BUILDING GENAIPROS · TOPIC 01</a:t>
            </a:r>
            <a:endParaRPr lang="en-US" sz="1400" dirty="0"/>
          </a:p>
        </p:txBody>
      </p:sp>
      <p:sp>
        <p:nvSpPr>
          <p:cNvPr id="3" name="Text 1"/>
          <p:cNvSpPr/>
          <p:nvPr/>
        </p:nvSpPr>
        <p:spPr>
          <a:xfrm>
            <a:off x="502920" y="1645920"/>
            <a:ext cx="11185855" cy="146304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The Wire Is Settled</a:t>
            </a:r>
            <a:endParaRPr lang="en-US" sz="5200" dirty="0"/>
          </a:p>
        </p:txBody>
      </p:sp>
      <p:sp>
        <p:nvSpPr>
          <p:cNvPr id="4" name="Text 2"/>
          <p:cNvSpPr/>
          <p:nvPr/>
        </p:nvSpPr>
        <p:spPr>
          <a:xfrm>
            <a:off x="502920" y="3291840"/>
            <a:ext cx="11185855" cy="548640"/>
          </a:xfrm>
          <a:prstGeom prst="rect">
            <a:avLst/>
          </a:prstGeom>
          <a:noFill/>
          <a:ln/>
        </p:spPr>
        <p:txBody>
          <a:bodyPr wrap="square" rtlCol="0" anchor="ctr"/>
          <a:lstStyle/>
          <a:p>
            <a:pPr indent="0" marL="0">
              <a:buNone/>
            </a:pPr>
            <a:r>
              <a:rPr lang="en-US" sz="2200" i="1" dirty="0">
                <a:solidFill>
                  <a:srgbClr val="0EA5E9"/>
                </a:solidFill>
                <a:latin typeface="Calibri" pitchFamily="34" charset="0"/>
                <a:ea typeface="Calibri" pitchFamily="34" charset="-122"/>
                <a:cs typeface="Calibri" pitchFamily="34" charset="-120"/>
              </a:rPr>
              <a:t>Now build on it</a:t>
            </a:r>
            <a:endParaRPr lang="en-US" sz="2200" dirty="0"/>
          </a:p>
        </p:txBody>
      </p:sp>
      <p:sp>
        <p:nvSpPr>
          <p:cNvPr id="5" name="Text 3"/>
          <p:cNvSpPr/>
          <p:nvPr/>
        </p:nvSpPr>
        <p:spPr>
          <a:xfrm>
            <a:off x="502920" y="4114800"/>
            <a:ext cx="10271455" cy="1828800"/>
          </a:xfrm>
          <a:prstGeom prst="rect">
            <a:avLst/>
          </a:prstGeom>
          <a:noFill/>
          <a:ln/>
        </p:spPr>
        <p:txBody>
          <a:bodyPr wrap="square" rtlCol="0" anchor="t"/>
          <a:lstStyle/>
          <a:p>
            <a:pPr indent="0" marL="0">
              <a:buNone/>
            </a:pPr>
            <a:r>
              <a:rPr lang="en-US" sz="1600" dirty="0">
                <a:solidFill>
                  <a:srgbClr val="E2E8F0"/>
                </a:solidFill>
                <a:latin typeface="Calibri" pitchFamily="34" charset="0"/>
                <a:ea typeface="Calibri" pitchFamily="34" charset="-122"/>
                <a:cs typeface="Calibri" pitchFamily="34" charset="-120"/>
              </a:rPr>
              <a:t>GenAIPros wraps its GCP-hosted RAG pipeline as an MCP server — in-band discovery, zero hand-wired clients, every content source and retrieval tool behind one standard contract. A2A enters the picture the moment the ingestion agent and the summarisation agent must hand work across a task lifecycle longer than a tool-call timeout — that boundary is exactly the line this deck traces. MCP for LLM-to-tool. A2A for agent-to-agent. The seven styles underneath both. Follow the build at genaipros.com.</a:t>
            </a:r>
            <a:endParaRPr lang="en-US" sz="1600" dirty="0"/>
          </a:p>
        </p:txBody>
      </p:sp>
      <p:sp>
        <p:nvSpPr>
          <p:cNvPr id="6" name="Shape 4"/>
          <p:cNvSpPr/>
          <p:nvPr/>
        </p:nvSpPr>
        <p:spPr>
          <a:xfrm>
            <a:off x="502920" y="5943600"/>
            <a:ext cx="1097280" cy="36576"/>
          </a:xfrm>
          <a:prstGeom prst="rect">
            <a:avLst/>
          </a:prstGeom>
          <a:solidFill>
            <a:srgbClr val="7C3AED"/>
          </a:solidFill>
          <a:ln/>
        </p:spPr>
      </p:sp>
      <p:sp>
        <p:nvSpPr>
          <p:cNvPr id="7" name="Text 5"/>
          <p:cNvSpPr/>
          <p:nvPr/>
        </p:nvSpPr>
        <p:spPr>
          <a:xfrm>
            <a:off x="502920" y="6400800"/>
            <a:ext cx="5486400" cy="201168"/>
          </a:xfrm>
          <a:prstGeom prst="rect">
            <a:avLst/>
          </a:prstGeom>
          <a:noFill/>
          <a:ln/>
        </p:spPr>
        <p:txBody>
          <a:bodyPr wrap="square" rtlCol="0" anchor="ctr"/>
          <a:lstStyle/>
          <a:p>
            <a:pPr indent="0" marL="0">
              <a:buNone/>
            </a:pPr>
            <a:r>
              <a:rPr lang="en-US" sz="1100" i="1" dirty="0">
                <a:solidFill>
                  <a:srgbClr val="FFFFFF"/>
                </a:solidFill>
                <a:latin typeface="Georgia" pitchFamily="34" charset="0"/>
                <a:ea typeface="Georgia" pitchFamily="34" charset="-122"/>
                <a:cs typeface="Georgia" pitchFamily="34" charset="-120"/>
              </a:rPr>
              <a:t>Kamaljeet S Kharbanda</a:t>
            </a:r>
            <a:endParaRPr lang="en-US" sz="1100" dirty="0"/>
          </a:p>
        </p:txBody>
      </p:sp>
      <p:sp>
        <p:nvSpPr>
          <p:cNvPr id="8" name="Text 6"/>
          <p:cNvSpPr/>
          <p:nvPr/>
        </p:nvSpPr>
        <p:spPr>
          <a:xfrm>
            <a:off x="502920" y="6601968"/>
            <a:ext cx="7315200" cy="201168"/>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AI Advisor &amp; Instructor @ AIMLEngineers.com  ·  Building GenAIPros</a:t>
            </a:r>
            <a:endParaRPr lang="en-US" sz="1000" dirty="0"/>
          </a:p>
        </p:txBody>
      </p:sp>
      <p:sp>
        <p:nvSpPr>
          <p:cNvPr id="9" name="Text 7"/>
          <p:cNvSpPr/>
          <p:nvPr/>
        </p:nvSpPr>
        <p:spPr>
          <a:xfrm>
            <a:off x="9859975" y="6501384"/>
            <a:ext cx="1828800" cy="201168"/>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18 / 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AIMLEngineers.com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Styles in the Agent Era: REST, MCP, A2A</dc:title>
  <dc:subject>PptxGenJS Presentation</dc:subject>
  <dc:creator>Kamaljeet S Kharbanda</dc:creator>
  <cp:lastModifiedBy>Kamaljeet S Kharbanda</cp:lastModifiedBy>
  <cp:revision>1</cp:revision>
  <dcterms:created xsi:type="dcterms:W3CDTF">2026-05-17T18:03:06Z</dcterms:created>
  <dcterms:modified xsi:type="dcterms:W3CDTF">2026-05-17T18:03:06Z</dcterms:modified>
</cp:coreProperties>
</file>